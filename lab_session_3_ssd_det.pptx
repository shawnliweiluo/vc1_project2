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4" r:id="rId2"/>
    <p:sldMasterId id="2147483677" r:id="rId3"/>
    <p:sldMasterId id="2147483713" r:id="rId4"/>
    <p:sldMasterId id="2147483689" r:id="rId5"/>
    <p:sldMasterId id="2147483701" r:id="rId6"/>
  </p:sldMasterIdLst>
  <p:notesMasterIdLst>
    <p:notesMasterId r:id="rId20"/>
  </p:notesMasterIdLst>
  <p:sldIdLst>
    <p:sldId id="256" r:id="rId7"/>
    <p:sldId id="257" r:id="rId8"/>
    <p:sldId id="261" r:id="rId9"/>
    <p:sldId id="272" r:id="rId10"/>
    <p:sldId id="270" r:id="rId11"/>
    <p:sldId id="273" r:id="rId12"/>
    <p:sldId id="274" r:id="rId13"/>
    <p:sldId id="276" r:id="rId14"/>
    <p:sldId id="277" r:id="rId15"/>
    <p:sldId id="278" r:id="rId16"/>
    <p:sldId id="279" r:id="rId17"/>
    <p:sldId id="281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0D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9"/>
    <p:restoredTop sz="94559"/>
  </p:normalViewPr>
  <p:slideViewPr>
    <p:cSldViewPr snapToGrid="0" snapToObjects="1">
      <p:cViewPr varScale="1">
        <p:scale>
          <a:sx n="107" d="100"/>
          <a:sy n="107" d="100"/>
        </p:scale>
        <p:origin x="9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395B3-B7B0-6348-A1DB-53FE2F234FBF}" type="datetimeFigureOut">
              <a:rPr lang="en-US" smtClean="0"/>
              <a:t>10/1/18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54D1D-792A-4E40-935C-1098F2B1F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2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98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72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39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6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3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26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37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 </a:t>
            </a:r>
            <a:r>
              <a:rPr lang="en-US" altLang="zh-CN" dirty="0"/>
              <a:t>Default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454D1D-792A-4E40-935C-1098F2B1FE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7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2"/>
          <p:cNvSpPr>
            <a:spLocks noGrp="1"/>
          </p:cNvSpPr>
          <p:nvPr>
            <p:ph type="title" hasCustomPrompt="1"/>
          </p:nvPr>
        </p:nvSpPr>
        <p:spPr>
          <a:xfrm>
            <a:off x="542257" y="2970451"/>
            <a:ext cx="10905391" cy="1928733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algn="l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ADD TITLE</a:t>
            </a:r>
            <a:br>
              <a:rPr lang="en-CA" dirty="0"/>
            </a:br>
            <a:r>
              <a:rPr lang="en-CA" dirty="0"/>
              <a:t>Add Sub-title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542255" y="4900084"/>
            <a:ext cx="10905391" cy="4924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aseline="0">
                <a:solidFill>
                  <a:srgbClr val="FFFFFF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CA" dirty="0"/>
              <a:t>Add Name or Department/Sub-division/Program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02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8E3C6A-B1DE-154C-B4AD-C4BB3AD19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68" y="2169762"/>
            <a:ext cx="5130512" cy="33889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F0F21"/>
                </a:solidFill>
              </a:defRPr>
            </a:lvl1pPr>
          </a:lstStyle>
          <a:p>
            <a:r>
              <a:rPr lang="en-US" dirty="0"/>
              <a:t>ADD YOUR THANK YOU NOTE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DB7EF44-E2C2-4141-86E2-F93256894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98424" y="2386739"/>
            <a:ext cx="5315725" cy="31719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Add your contact information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AF3BE6-2541-2444-9F0B-71EBC4C5BC0C}"/>
              </a:ext>
            </a:extLst>
          </p:cNvPr>
          <p:cNvSpPr/>
          <p:nvPr userDrawn="1"/>
        </p:nvSpPr>
        <p:spPr>
          <a:xfrm>
            <a:off x="10704164" y="5973224"/>
            <a:ext cx="103265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667" b="1" dirty="0" err="1">
                <a:solidFill>
                  <a:srgbClr val="AF0F21"/>
                </a:solidFill>
                <a:latin typeface="DIN Alternate" panose="020B0500000000000000" pitchFamily="34" charset="77"/>
              </a:rPr>
              <a:t>sfu.ca</a:t>
            </a:r>
            <a:endParaRPr lang="en-US" sz="2667" b="1" dirty="0">
              <a:solidFill>
                <a:srgbClr val="AF0F21"/>
              </a:solidFill>
              <a:latin typeface="DIN Alternate" panose="020B0500000000000000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96201-6339-4748-B6F4-96E1339DC614}"/>
              </a:ext>
            </a:extLst>
          </p:cNvPr>
          <p:cNvSpPr txBox="1"/>
          <p:nvPr userDrawn="1"/>
        </p:nvSpPr>
        <p:spPr>
          <a:xfrm>
            <a:off x="431083" y="6137372"/>
            <a:ext cx="9687013" cy="338554"/>
          </a:xfrm>
          <a:prstGeom prst="rect">
            <a:avLst/>
          </a:prstGeom>
        </p:spPr>
        <p:txBody>
          <a:bodyPr wrap="square" rtlCol="0" anchor="t" anchorCtr="0">
            <a:spAutoFit/>
          </a:bodyPr>
          <a:lstStyle/>
          <a:p>
            <a:pPr algn="l"/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Facebook/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SimonFraserUniversity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CA" sz="16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" pitchFamily="2" charset="0"/>
                <a:ea typeface="+mn-ea"/>
                <a:cs typeface="+mn-cs"/>
              </a:rPr>
              <a:t>•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Twitter 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@SFU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 </a:t>
            </a:r>
            <a:r>
              <a:rPr lang="en-CA" sz="16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elvetica" pitchFamily="2" charset="0"/>
                <a:ea typeface="+mn-ea"/>
                <a:cs typeface="+mn-cs"/>
              </a:rPr>
              <a:t>•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Instagram </a:t>
            </a:r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@</a:t>
            </a:r>
            <a:r>
              <a:rPr lang="en-US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SimonFraserU</a:t>
            </a:r>
            <a:endParaRPr 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08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721664" y="553941"/>
            <a:ext cx="10972800" cy="1025921"/>
          </a:xfrm>
        </p:spPr>
        <p:txBody>
          <a:bodyPr anchor="t" anchorCtr="0">
            <a:noAutofit/>
          </a:bodyPr>
          <a:lstStyle>
            <a:lvl1pPr algn="l">
              <a:defRPr sz="5867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C5BC8-8517-4D49-A550-000B7E55EE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784" y="2270303"/>
            <a:ext cx="10972680" cy="3044936"/>
          </a:xfrm>
        </p:spPr>
        <p:txBody>
          <a:bodyPr wrap="square">
            <a:noAutofit/>
          </a:bodyPr>
          <a:lstStyle>
            <a:lvl1pPr>
              <a:defRPr sz="4267">
                <a:latin typeface="Helvetica" pitchFamily="2" charset="0"/>
              </a:defRPr>
            </a:lvl1pPr>
            <a:lvl2pPr>
              <a:defRPr sz="3733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2667">
                <a:latin typeface="Helvetica" pitchFamily="2" charset="0"/>
              </a:defRPr>
            </a:lvl4pPr>
            <a:lvl5pPr>
              <a:defRPr sz="2667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Add body text or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402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821688"/>
            <a:ext cx="10363200" cy="1025921"/>
          </a:xfrm>
        </p:spPr>
        <p:txBody>
          <a:bodyPr anchor="t"/>
          <a:lstStyle>
            <a:lvl1pPr algn="l">
              <a:defRPr sz="5867" b="1" cap="all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 b="0">
                <a:solidFill>
                  <a:srgbClr val="AF0D1E"/>
                </a:solidFill>
                <a:latin typeface="DIN Alternate" panose="020B0500000000000000" pitchFamily="34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97590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DEC0A-CC76-BA44-80D4-30F305606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282726"/>
            <a:ext cx="10363200" cy="1928733"/>
          </a:xfrm>
        </p:spPr>
        <p:txBody>
          <a:bodyPr anchor="t"/>
          <a:lstStyle>
            <a:lvl1pPr algn="l">
              <a:defRPr sz="5867" b="1" cap="all">
                <a:solidFill>
                  <a:srgbClr val="AF0F21"/>
                </a:solidFill>
              </a:defRPr>
            </a:lvl1pPr>
          </a:lstStyle>
          <a:p>
            <a:r>
              <a:rPr lang="en-US" dirty="0"/>
              <a:t>ADD Section title, quote</a:t>
            </a:r>
            <a:br>
              <a:rPr lang="en-US" dirty="0"/>
            </a:br>
            <a:r>
              <a:rPr lang="en-US" dirty="0"/>
              <a:t>or IMPACT STATEMENT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CFB277-20B8-144E-AB97-87EF9507FC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675224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short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78249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86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916003"/>
            <a:ext cx="5300420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3255665"/>
            <a:ext cx="5300420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1982" y="1916003"/>
            <a:ext cx="5300429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1982" y="3255665"/>
            <a:ext cx="5300429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005B3-F57E-3E40-A64C-AC7A9604B6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16003"/>
            <a:ext cx="0" cy="3360000"/>
          </a:xfrm>
          <a:prstGeom prst="line">
            <a:avLst/>
          </a:prstGeom>
          <a:ln w="190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6F981A7-CE1F-EF48-B31D-93D087A9D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COMPARISON TITLE</a:t>
            </a:r>
          </a:p>
        </p:txBody>
      </p:sp>
    </p:spTree>
    <p:extLst>
      <p:ext uri="{BB962C8B-B14F-4D97-AF65-F5344CB8AC3E}">
        <p14:creationId xmlns:p14="http://schemas.microsoft.com/office/powerpoint/2010/main" val="935721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85108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5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698701"/>
            <a:ext cx="4011084" cy="881160"/>
          </a:xfrm>
        </p:spPr>
        <p:txBody>
          <a:bodyPr anchor="b"/>
          <a:lstStyle>
            <a:lvl1pPr algn="l"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11" y="1862295"/>
            <a:ext cx="4011084" cy="4263872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 or object caption</a:t>
            </a:r>
          </a:p>
        </p:txBody>
      </p:sp>
    </p:spTree>
    <p:extLst>
      <p:ext uri="{BB962C8B-B14F-4D97-AF65-F5344CB8AC3E}">
        <p14:creationId xmlns:p14="http://schemas.microsoft.com/office/powerpoint/2010/main" val="291043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OBJECT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4B23-B07D-5445-8655-FACA0599B7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852613"/>
            <a:ext cx="10972800" cy="4060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9320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13C1F-4E9C-F245-8A2C-6F770BCB00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828801"/>
            <a:ext cx="10985500" cy="35844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9F11E0-4FF4-6A4C-9EDA-6F780ABFC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559425"/>
            <a:ext cx="10972800" cy="3905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Description or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2753016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32AAEF-AFF3-D24E-B356-6FFB319CA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0573" y="553941"/>
            <a:ext cx="4822160" cy="1022889"/>
          </a:xfrm>
        </p:spPr>
        <p:txBody>
          <a:bodyPr anchor="b"/>
          <a:lstStyle>
            <a:lvl1pPr algn="l"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E539886-9D5F-0048-91B3-6DD14A13B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6622943" cy="68580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D7F431-FE18-D74B-BF90-4BB787CBB3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70573" y="1829974"/>
            <a:ext cx="4822160" cy="4049049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</a:t>
            </a:r>
          </a:p>
        </p:txBody>
      </p:sp>
    </p:spTree>
    <p:extLst>
      <p:ext uri="{BB962C8B-B14F-4D97-AF65-F5344CB8AC3E}">
        <p14:creationId xmlns:p14="http://schemas.microsoft.com/office/powerpoint/2010/main" val="4266988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TABLE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319521C-7054-444B-93BD-1AA78DD18A9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" y="1878012"/>
            <a:ext cx="10972800" cy="388597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049884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721664" y="553941"/>
            <a:ext cx="10972800" cy="1025921"/>
          </a:xfrm>
        </p:spPr>
        <p:txBody>
          <a:bodyPr anchor="t" anchorCtr="0">
            <a:noAutofit/>
          </a:bodyPr>
          <a:lstStyle>
            <a:lvl1pPr algn="l">
              <a:defRPr sz="5867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C5BC8-8517-4D49-A550-000B7E55EE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784" y="2270303"/>
            <a:ext cx="10972680" cy="3044936"/>
          </a:xfrm>
        </p:spPr>
        <p:txBody>
          <a:bodyPr wrap="square">
            <a:noAutofit/>
          </a:bodyPr>
          <a:lstStyle>
            <a:lvl1pPr>
              <a:defRPr sz="4267">
                <a:latin typeface="Helvetica" pitchFamily="2" charset="0"/>
              </a:defRPr>
            </a:lvl1pPr>
            <a:lvl2pPr>
              <a:defRPr sz="3733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2667">
                <a:latin typeface="Helvetica" pitchFamily="2" charset="0"/>
              </a:defRPr>
            </a:lvl4pPr>
            <a:lvl5pPr>
              <a:defRPr sz="2667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Add body text or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313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821688"/>
            <a:ext cx="10363200" cy="1025921"/>
          </a:xfrm>
        </p:spPr>
        <p:txBody>
          <a:bodyPr anchor="t"/>
          <a:lstStyle>
            <a:lvl1pPr algn="l">
              <a:defRPr sz="5867" b="1" cap="all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 b="0">
                <a:solidFill>
                  <a:srgbClr val="C00000"/>
                </a:solidFill>
                <a:latin typeface="DIN Alternate" panose="020B0500000000000000" pitchFamily="34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430430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DEC0A-CC76-BA44-80D4-30F305606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282726"/>
            <a:ext cx="10363200" cy="1928733"/>
          </a:xfrm>
        </p:spPr>
        <p:txBody>
          <a:bodyPr anchor="t"/>
          <a:lstStyle>
            <a:lvl1pPr algn="l">
              <a:defRPr sz="5867" b="1" cap="all">
                <a:solidFill>
                  <a:srgbClr val="AF0F21"/>
                </a:solidFill>
              </a:defRPr>
            </a:lvl1pPr>
          </a:lstStyle>
          <a:p>
            <a:r>
              <a:rPr lang="en-US" dirty="0"/>
              <a:t>Add Section title, quote</a:t>
            </a:r>
            <a:br>
              <a:rPr lang="en-US" dirty="0"/>
            </a:br>
            <a:r>
              <a:rPr lang="en-US" dirty="0"/>
              <a:t>or IMPACT STATEMENT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CFB277-20B8-144E-AB97-87EF9507FC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675224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short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1803312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0620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916003"/>
            <a:ext cx="5300420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3255665"/>
            <a:ext cx="5300420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1982" y="1916003"/>
            <a:ext cx="5300429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1982" y="3255665"/>
            <a:ext cx="5300429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005B3-F57E-3E40-A64C-AC7A9604B6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16003"/>
            <a:ext cx="0" cy="3360000"/>
          </a:xfrm>
          <a:prstGeom prst="line">
            <a:avLst/>
          </a:prstGeom>
          <a:ln w="190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6F981A7-CE1F-EF48-B31D-93D087A9D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COMPARISON TITLE</a:t>
            </a:r>
          </a:p>
        </p:txBody>
      </p:sp>
    </p:spTree>
    <p:extLst>
      <p:ext uri="{BB962C8B-B14F-4D97-AF65-F5344CB8AC3E}">
        <p14:creationId xmlns:p14="http://schemas.microsoft.com/office/powerpoint/2010/main" val="2552862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4641312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055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698701"/>
            <a:ext cx="4011084" cy="881160"/>
          </a:xfrm>
        </p:spPr>
        <p:txBody>
          <a:bodyPr anchor="b"/>
          <a:lstStyle>
            <a:lvl1pPr algn="l"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11" y="1862295"/>
            <a:ext cx="4011084" cy="4263872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 or object caption</a:t>
            </a:r>
          </a:p>
        </p:txBody>
      </p:sp>
    </p:spTree>
    <p:extLst>
      <p:ext uri="{BB962C8B-B14F-4D97-AF65-F5344CB8AC3E}">
        <p14:creationId xmlns:p14="http://schemas.microsoft.com/office/powerpoint/2010/main" val="229371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OBJECT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4B23-B07D-5445-8655-FACA0599B7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852613"/>
            <a:ext cx="10972800" cy="4060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339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13C1F-4E9C-F245-8A2C-6F770BCB00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828801"/>
            <a:ext cx="10985500" cy="358444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9F11E0-4FF4-6A4C-9EDA-6F780ABFC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559425"/>
            <a:ext cx="10972800" cy="3905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Description or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39030627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32AAEF-AFF3-D24E-B356-6FFB319CA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0573" y="553941"/>
            <a:ext cx="4822160" cy="1022889"/>
          </a:xfrm>
        </p:spPr>
        <p:txBody>
          <a:bodyPr anchor="b"/>
          <a:lstStyle>
            <a:lvl1pPr algn="l"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E539886-9D5F-0048-91B3-6DD14A13B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6622943" cy="6858000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D7F431-FE18-D74B-BF90-4BB787CBB3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70573" y="1829974"/>
            <a:ext cx="4822160" cy="4049049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</a:t>
            </a:r>
          </a:p>
        </p:txBody>
      </p:sp>
    </p:spTree>
    <p:extLst>
      <p:ext uri="{BB962C8B-B14F-4D97-AF65-F5344CB8AC3E}">
        <p14:creationId xmlns:p14="http://schemas.microsoft.com/office/powerpoint/2010/main" val="13905399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319521C-7054-444B-93BD-1AA78DD18A9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" y="1878012"/>
            <a:ext cx="10972800" cy="388597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901262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2"/>
          <p:cNvSpPr>
            <a:spLocks noGrp="1"/>
          </p:cNvSpPr>
          <p:nvPr>
            <p:ph type="title" hasCustomPrompt="1"/>
          </p:nvPr>
        </p:nvSpPr>
        <p:spPr>
          <a:xfrm>
            <a:off x="542257" y="2970451"/>
            <a:ext cx="10905391" cy="1928733"/>
          </a:xfrm>
          <a:prstGeom prst="rect">
            <a:avLst/>
          </a:prstGeom>
        </p:spPr>
        <p:txBody>
          <a:bodyPr wrap="none" anchor="t" anchorCtr="0">
            <a:noAutofit/>
          </a:bodyPr>
          <a:lstStyle>
            <a:lvl1pPr algn="l"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CA" dirty="0"/>
              <a:t>ADD TITLE</a:t>
            </a:r>
            <a:br>
              <a:rPr lang="en-CA" dirty="0"/>
            </a:br>
            <a:r>
              <a:rPr lang="en-CA" dirty="0"/>
              <a:t>Add Sub-title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542255" y="4900084"/>
            <a:ext cx="10905391" cy="49244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aseline="0">
                <a:solidFill>
                  <a:schemeClr val="tx1"/>
                </a:solidFill>
                <a:latin typeface="Helvetica"/>
                <a:cs typeface="Helvetica"/>
              </a:defRPr>
            </a:lvl1pPr>
          </a:lstStyle>
          <a:p>
            <a:pPr lvl="0"/>
            <a:r>
              <a:rPr lang="en-CA" dirty="0"/>
              <a:t>Add Name or Department/Sub-division/Program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4494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8E3C6A-B1DE-154C-B4AD-C4BB3AD19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868" y="2169762"/>
            <a:ext cx="5130512" cy="33889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THANK YOU NOTE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DB7EF44-E2C2-4141-86E2-F932568943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98424" y="2386739"/>
            <a:ext cx="5315725" cy="31719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your contact information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AF3BE6-2541-2444-9F0B-71EBC4C5BC0C}"/>
              </a:ext>
            </a:extLst>
          </p:cNvPr>
          <p:cNvSpPr/>
          <p:nvPr userDrawn="1"/>
        </p:nvSpPr>
        <p:spPr>
          <a:xfrm>
            <a:off x="10704164" y="5973224"/>
            <a:ext cx="103265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667" b="1" dirty="0" err="1">
                <a:solidFill>
                  <a:schemeClr val="bg1"/>
                </a:solidFill>
                <a:latin typeface="DIN Alternate" panose="020B0500000000000000" pitchFamily="34" charset="77"/>
              </a:rPr>
              <a:t>sfu.ca</a:t>
            </a:r>
            <a:endParaRPr lang="en-US" sz="2667" b="1" dirty="0">
              <a:solidFill>
                <a:schemeClr val="bg1"/>
              </a:solidFill>
              <a:latin typeface="DIN Alternate" panose="020B0500000000000000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96201-6339-4748-B6F4-96E1339DC614}"/>
              </a:ext>
            </a:extLst>
          </p:cNvPr>
          <p:cNvSpPr txBox="1"/>
          <p:nvPr userDrawn="1"/>
        </p:nvSpPr>
        <p:spPr>
          <a:xfrm>
            <a:off x="431083" y="6137372"/>
            <a:ext cx="9687013" cy="338554"/>
          </a:xfrm>
          <a:prstGeom prst="rect">
            <a:avLst/>
          </a:prstGeom>
        </p:spPr>
        <p:txBody>
          <a:bodyPr wrap="square" rtlCol="0" anchor="t" anchorCtr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Facebook/</a:t>
            </a:r>
            <a:r>
              <a:rPr lang="en-US" sz="1600" b="1" dirty="0" err="1">
                <a:solidFill>
                  <a:schemeClr val="bg1"/>
                </a:solidFill>
                <a:latin typeface="Helvetica" pitchFamily="2" charset="0"/>
              </a:rPr>
              <a:t>SimonFraserUniversity</a:t>
            </a:r>
            <a:r>
              <a:rPr lang="en-US" sz="1600" b="1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CA" sz="1600" b="0" i="0" kern="1200" dirty="0"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+mn-cs"/>
              </a:rPr>
              <a:t>•  </a:t>
            </a: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Twitter </a:t>
            </a:r>
            <a:r>
              <a:rPr lang="en-US" sz="1600" b="1" dirty="0">
                <a:solidFill>
                  <a:schemeClr val="bg1"/>
                </a:solidFill>
                <a:latin typeface="Helvetica" pitchFamily="2" charset="0"/>
              </a:rPr>
              <a:t>@SFU</a:t>
            </a: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CA" sz="1600" b="0" i="0" kern="1200" dirty="0"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+mn-cs"/>
              </a:rPr>
              <a:t>•  </a:t>
            </a:r>
            <a:r>
              <a:rPr lang="en-US" sz="1600" dirty="0">
                <a:solidFill>
                  <a:schemeClr val="bg1"/>
                </a:solidFill>
                <a:latin typeface="Helvetica" pitchFamily="2" charset="0"/>
              </a:rPr>
              <a:t>Instagram </a:t>
            </a:r>
            <a:r>
              <a:rPr lang="en-US" sz="1600" b="1" dirty="0">
                <a:solidFill>
                  <a:schemeClr val="bg1"/>
                </a:solidFill>
                <a:latin typeface="Helvetica" pitchFamily="2" charset="0"/>
              </a:rPr>
              <a:t>@</a:t>
            </a:r>
            <a:r>
              <a:rPr lang="en-US" sz="1600" b="1" dirty="0" err="1">
                <a:solidFill>
                  <a:schemeClr val="bg1"/>
                </a:solidFill>
                <a:latin typeface="Helvetica" pitchFamily="2" charset="0"/>
              </a:rPr>
              <a:t>SimonFraserU</a:t>
            </a:r>
            <a:endParaRPr lang="en-US" sz="1600" b="1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2173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721664" y="553941"/>
            <a:ext cx="10972800" cy="1025921"/>
          </a:xfrm>
        </p:spPr>
        <p:txBody>
          <a:bodyPr anchor="t" anchorCtr="0">
            <a:noAutofit/>
          </a:bodyPr>
          <a:lstStyle>
            <a:lvl1pPr algn="l">
              <a:defRPr sz="5867">
                <a:solidFill>
                  <a:srgbClr val="AF0D1E"/>
                </a:solidFill>
              </a:defRPr>
            </a:lvl1pPr>
          </a:lstStyle>
          <a:p>
            <a:r>
              <a:rPr lang="en-CA" dirty="0"/>
              <a:t>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C5BC8-8517-4D49-A550-000B7E55EE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784" y="2270303"/>
            <a:ext cx="10972680" cy="3044936"/>
          </a:xfrm>
        </p:spPr>
        <p:txBody>
          <a:bodyPr wrap="square">
            <a:noAutofit/>
          </a:bodyPr>
          <a:lstStyle>
            <a:lvl1pPr>
              <a:defRPr sz="4267">
                <a:latin typeface="Helvetica" pitchFamily="2" charset="0"/>
              </a:defRPr>
            </a:lvl1pPr>
            <a:lvl2pPr>
              <a:defRPr sz="3733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2667">
                <a:latin typeface="Helvetica" pitchFamily="2" charset="0"/>
              </a:defRPr>
            </a:lvl4pPr>
            <a:lvl5pPr>
              <a:defRPr sz="2667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Add body text or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670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821688"/>
            <a:ext cx="10363200" cy="1025921"/>
          </a:xfrm>
        </p:spPr>
        <p:txBody>
          <a:bodyPr anchor="t"/>
          <a:lstStyle>
            <a:lvl1pPr algn="l"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 b="0">
                <a:solidFill>
                  <a:schemeClr val="bg1"/>
                </a:solidFill>
                <a:latin typeface="DIN Alternate" panose="020B0500000000000000" pitchFamily="34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3090899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DEC0A-CC76-BA44-80D4-30F305606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282726"/>
            <a:ext cx="10363200" cy="1928733"/>
          </a:xfrm>
        </p:spPr>
        <p:txBody>
          <a:bodyPr anchor="t"/>
          <a:lstStyle>
            <a:lvl1pPr algn="l"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Section title, quote</a:t>
            </a:r>
            <a:br>
              <a:rPr lang="en-US" dirty="0"/>
            </a:br>
            <a:r>
              <a:rPr lang="en-US" dirty="0"/>
              <a:t>or IMPACT STATEMENT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CFB277-20B8-144E-AB97-87EF9507FC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675224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short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3623684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7807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916003"/>
            <a:ext cx="5300420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3255665"/>
            <a:ext cx="5300420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1982" y="1916003"/>
            <a:ext cx="5300429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1982" y="3255665"/>
            <a:ext cx="5300429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005B3-F57E-3E40-A64C-AC7A9604B6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16003"/>
            <a:ext cx="0" cy="3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6F981A7-CE1F-EF48-B31D-93D087A9D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COMPARISON TITLE</a:t>
            </a:r>
          </a:p>
        </p:txBody>
      </p:sp>
    </p:spTree>
    <p:extLst>
      <p:ext uri="{BB962C8B-B14F-4D97-AF65-F5344CB8AC3E}">
        <p14:creationId xmlns:p14="http://schemas.microsoft.com/office/powerpoint/2010/main" val="3828793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2041726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7001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698701"/>
            <a:ext cx="4011084" cy="881160"/>
          </a:xfrm>
        </p:spPr>
        <p:txBody>
          <a:bodyPr anchor="b"/>
          <a:lstStyle>
            <a:lvl1pPr algn="l">
              <a:defRPr sz="58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11" y="1862295"/>
            <a:ext cx="4011084" cy="4263872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 or object caption</a:t>
            </a:r>
          </a:p>
        </p:txBody>
      </p:sp>
    </p:spTree>
    <p:extLst>
      <p:ext uri="{BB962C8B-B14F-4D97-AF65-F5344CB8AC3E}">
        <p14:creationId xmlns:p14="http://schemas.microsoft.com/office/powerpoint/2010/main" val="6930508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OBJECT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4B23-B07D-5445-8655-FACA0599B7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852613"/>
            <a:ext cx="10972800" cy="4060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77442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13C1F-4E9C-F245-8A2C-6F770BCB00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828801"/>
            <a:ext cx="10985500" cy="358444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9F11E0-4FF4-6A4C-9EDA-6F780ABFC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559425"/>
            <a:ext cx="10972800" cy="39052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Description or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37594483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32AAEF-AFF3-D24E-B356-6FFB319CA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0573" y="553941"/>
            <a:ext cx="4822160" cy="1022889"/>
          </a:xfrm>
        </p:spPr>
        <p:txBody>
          <a:bodyPr anchor="b"/>
          <a:lstStyle>
            <a:lvl1pPr algn="l">
              <a:defRPr sz="58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E539886-9D5F-0048-91B3-6DD14A13B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6622943" cy="68580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D7F431-FE18-D74B-BF90-4BB787CBB3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70573" y="1829974"/>
            <a:ext cx="4822160" cy="4049049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</a:t>
            </a:r>
          </a:p>
        </p:txBody>
      </p:sp>
    </p:spTree>
    <p:extLst>
      <p:ext uri="{BB962C8B-B14F-4D97-AF65-F5344CB8AC3E}">
        <p14:creationId xmlns:p14="http://schemas.microsoft.com/office/powerpoint/2010/main" val="2439183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319521C-7054-444B-93BD-1AA78DD18A9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" y="1878012"/>
            <a:ext cx="10972800" cy="388597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9444436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721664" y="553941"/>
            <a:ext cx="10972800" cy="1025921"/>
          </a:xfrm>
        </p:spPr>
        <p:txBody>
          <a:bodyPr anchor="t" anchorCtr="0">
            <a:noAutofit/>
          </a:bodyPr>
          <a:lstStyle>
            <a:lvl1pPr algn="l">
              <a:defRPr sz="5867"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C5BC8-8517-4D49-A550-000B7E55EE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784" y="2270303"/>
            <a:ext cx="10972680" cy="3044936"/>
          </a:xfrm>
        </p:spPr>
        <p:txBody>
          <a:bodyPr wrap="square">
            <a:noAutofit/>
          </a:bodyPr>
          <a:lstStyle>
            <a:lvl1pPr>
              <a:defRPr sz="4267">
                <a:latin typeface="Helvetica" pitchFamily="2" charset="0"/>
              </a:defRPr>
            </a:lvl1pPr>
            <a:lvl2pPr>
              <a:defRPr sz="3733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2667">
                <a:latin typeface="Helvetica" pitchFamily="2" charset="0"/>
              </a:defRPr>
            </a:lvl4pPr>
            <a:lvl5pPr>
              <a:defRPr sz="2667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Add body text and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99181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821688"/>
            <a:ext cx="10363200" cy="1025921"/>
          </a:xfrm>
        </p:spPr>
        <p:txBody>
          <a:bodyPr anchor="t"/>
          <a:lstStyle>
            <a:lvl1pPr algn="l">
              <a:defRPr sz="5867" b="1" cap="all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 b="0">
                <a:solidFill>
                  <a:schemeClr val="bg1"/>
                </a:solidFill>
                <a:latin typeface="DIN Alternate" panose="020B0500000000000000" pitchFamily="34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Section Header</a:t>
            </a:r>
          </a:p>
        </p:txBody>
      </p:sp>
    </p:spTree>
    <p:extLst>
      <p:ext uri="{BB962C8B-B14F-4D97-AF65-F5344CB8AC3E}">
        <p14:creationId xmlns:p14="http://schemas.microsoft.com/office/powerpoint/2010/main" val="34795072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EDDEC0A-CC76-BA44-80D4-30F305606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3084" y="2282726"/>
            <a:ext cx="10363200" cy="1928733"/>
          </a:xfrm>
        </p:spPr>
        <p:txBody>
          <a:bodyPr anchor="t"/>
          <a:lstStyle>
            <a:lvl1pPr algn="l"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Section title, quote</a:t>
            </a:r>
            <a:br>
              <a:rPr lang="en-US" dirty="0"/>
            </a:br>
            <a:r>
              <a:rPr lang="en-US" dirty="0"/>
              <a:t>or IMPACT STATEMENT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CFB277-20B8-144E-AB97-87EF9507FC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63084" y="4675224"/>
            <a:ext cx="10363200" cy="533480"/>
          </a:xfrm>
        </p:spPr>
        <p:txBody>
          <a:bodyPr anchor="t" anchorCtr="0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Add short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136956272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200402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14876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916003"/>
            <a:ext cx="5300420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3255665"/>
            <a:ext cx="5300420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81982" y="1916003"/>
            <a:ext cx="5300429" cy="861775"/>
          </a:xfrm>
        </p:spPr>
        <p:txBody>
          <a:bodyPr anchor="b"/>
          <a:lstStyle>
            <a:lvl1pPr marL="0" indent="0">
              <a:buNone/>
              <a:defRPr sz="4800" b="1">
                <a:latin typeface="DIN Alternate" panose="020B0500000000000000" pitchFamily="34" charset="77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81982" y="3255665"/>
            <a:ext cx="5300429" cy="2043636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8005B3-F57E-3E40-A64C-AC7A9604B6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916003"/>
            <a:ext cx="0" cy="336000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76F981A7-CE1F-EF48-B31D-93D087A9D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3941"/>
            <a:ext cx="10972800" cy="102592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COMPARISON TITLE</a:t>
            </a:r>
          </a:p>
        </p:txBody>
      </p:sp>
    </p:spTree>
    <p:extLst>
      <p:ext uri="{BB962C8B-B14F-4D97-AF65-F5344CB8AC3E}">
        <p14:creationId xmlns:p14="http://schemas.microsoft.com/office/powerpoint/2010/main" val="2533121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2938095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1043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698701"/>
            <a:ext cx="4011084" cy="881160"/>
          </a:xfrm>
        </p:spPr>
        <p:txBody>
          <a:bodyPr anchor="b"/>
          <a:lstStyle>
            <a:lvl1pPr algn="l">
              <a:defRPr sz="58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11" y="1862295"/>
            <a:ext cx="4011084" cy="4263872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 or object caption</a:t>
            </a:r>
          </a:p>
        </p:txBody>
      </p:sp>
    </p:spTree>
    <p:extLst>
      <p:ext uri="{BB962C8B-B14F-4D97-AF65-F5344CB8AC3E}">
        <p14:creationId xmlns:p14="http://schemas.microsoft.com/office/powerpoint/2010/main" val="20907364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OBJECT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64B23-B07D-5445-8655-FACA0599B7C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852613"/>
            <a:ext cx="10972800" cy="40608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Add body text or click icon to add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41084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E113C1F-4E9C-F245-8A2C-6F770BCB00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828801"/>
            <a:ext cx="10985500" cy="358444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9F11E0-4FF4-6A4C-9EDA-6F780ABFC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5559425"/>
            <a:ext cx="10972800" cy="390525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Description or Caption if needed</a:t>
            </a:r>
          </a:p>
        </p:txBody>
      </p:sp>
    </p:spTree>
    <p:extLst>
      <p:ext uri="{BB962C8B-B14F-4D97-AF65-F5344CB8AC3E}">
        <p14:creationId xmlns:p14="http://schemas.microsoft.com/office/powerpoint/2010/main" val="24201173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32AAEF-AFF3-D24E-B356-6FFB319CA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0573" y="553941"/>
            <a:ext cx="4822160" cy="1022889"/>
          </a:xfrm>
        </p:spPr>
        <p:txBody>
          <a:bodyPr anchor="b"/>
          <a:lstStyle>
            <a:lvl1pPr algn="l">
              <a:defRPr sz="58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E539886-9D5F-0048-91B3-6DD14A13B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" y="0"/>
            <a:ext cx="6622943" cy="6858000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icon to add picture</a:t>
            </a:r>
          </a:p>
          <a:p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D7F431-FE18-D74B-BF90-4BB787CBB3A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770573" y="1829974"/>
            <a:ext cx="4822160" cy="4049049"/>
          </a:xfrm>
        </p:spPr>
        <p:txBody>
          <a:bodyPr/>
          <a:lstStyle>
            <a:lvl1pPr marL="0" indent="0">
              <a:buNone/>
              <a:defRPr sz="3200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Add body text</a:t>
            </a:r>
          </a:p>
        </p:txBody>
      </p:sp>
    </p:spTree>
    <p:extLst>
      <p:ext uri="{BB962C8B-B14F-4D97-AF65-F5344CB8AC3E}">
        <p14:creationId xmlns:p14="http://schemas.microsoft.com/office/powerpoint/2010/main" val="34562718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IMAGE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319521C-7054-444B-93BD-1AA78DD18A9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" y="1878012"/>
            <a:ext cx="10972800" cy="388597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04660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19119B-BBDB-674B-BA2E-E16F70A344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6692" y="561167"/>
            <a:ext cx="4461868" cy="6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3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noFill/>
          <a:latin typeface="DIN Alternate Bold"/>
          <a:ea typeface="+mj-ea"/>
          <a:cs typeface="DIN Alternate Bold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penHouse2015_Presentation_Background_White-05.png">
            <a:extLst>
              <a:ext uri="{FF2B5EF4-FFF2-40B4-BE49-F238E27FC236}">
                <a16:creationId xmlns:a16="http://schemas.microsoft.com/office/drawing/2014/main" id="{6B53B0AF-C405-C145-8A86-506489C7634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alphaModFix amt="2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3941"/>
            <a:ext cx="10972800" cy="1025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6532"/>
            <a:ext cx="10972800" cy="30449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6C2561-F634-3B46-A0B6-DAB4388D47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48813" y="6118041"/>
            <a:ext cx="1190615" cy="5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5" r:id="rId9"/>
    <p:sldLayoutId id="2147483676" r:id="rId10"/>
    <p:sldLayoutId id="2147483674" r:id="rId11"/>
    <p:sldLayoutId id="2147483716" r:id="rId1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DIN Alternate Bold"/>
          <a:ea typeface="+mj-ea"/>
          <a:cs typeface="DIN Alternate Bold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3941"/>
            <a:ext cx="10972800" cy="1025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6532"/>
            <a:ext cx="10972800" cy="30449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6C2561-F634-3B46-A0B6-DAB4388D479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8813" y="6118041"/>
            <a:ext cx="1190615" cy="5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7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718" r:id="rId1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DIN Alternate Bold"/>
          <a:ea typeface="+mj-ea"/>
          <a:cs typeface="DIN Alternate Bold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AF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DC7E9-D29C-6F45-B3E5-359C6BBA8B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721" y="255377"/>
            <a:ext cx="5229721" cy="123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48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noFill/>
          <a:latin typeface="DIN Alternate Bold"/>
          <a:ea typeface="+mj-ea"/>
          <a:cs typeface="DIN Alternate Bold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A6A4B9-490C-8C40-89CD-E7D9B0C4820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63ADF-09B7-1540-AE10-016AD1F256A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848812" y="6118041"/>
            <a:ext cx="1190616" cy="5953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3941"/>
            <a:ext cx="10972800" cy="1025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6532"/>
            <a:ext cx="10972800" cy="30449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424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19" r:id="rId1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DIN Alternate Bold"/>
          <a:ea typeface="+mj-ea"/>
          <a:cs typeface="DIN Alternate Bold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bg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bg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bg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bg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AF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563ADF-09B7-1540-AE10-016AD1F256A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48812" y="6118041"/>
            <a:ext cx="1190616" cy="5953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53941"/>
            <a:ext cx="10972800" cy="102592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06532"/>
            <a:ext cx="10972800" cy="304493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516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20" r:id="rId12"/>
  </p:sldLayoutIdLst>
  <p:txStyles>
    <p:titleStyle>
      <a:lvl1pPr algn="l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DIN Alternate Bold"/>
          <a:ea typeface="+mj-ea"/>
          <a:cs typeface="DIN Alternate Bold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bg1"/>
          </a:solidFill>
          <a:latin typeface="Helvetica" pitchFamily="2" charset="0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bg1"/>
          </a:solidFill>
          <a:latin typeface="Helvetica" pitchFamily="2" charset="0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Helvetica" pitchFamily="2" charset="0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bg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bg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1.0438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userid@gpu1.sfucloud.c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23" descr="6677.jpg">
            <a:extLst>
              <a:ext uri="{FF2B5EF4-FFF2-40B4-BE49-F238E27FC236}">
                <a16:creationId xmlns:a16="http://schemas.microsoft.com/office/drawing/2014/main" id="{4FDFC25F-0DB8-9249-9CA4-B9BD67C0A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32" b="7632"/>
          <a:stretch>
            <a:fillRect/>
          </a:stretch>
        </p:blipFill>
        <p:spPr>
          <a:xfrm>
            <a:off x="-2" y="-6351"/>
            <a:ext cx="12192001" cy="68643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6F46302-CD8A-5245-B7FF-721360BFD3D5}"/>
              </a:ext>
            </a:extLst>
          </p:cNvPr>
          <p:cNvSpPr/>
          <p:nvPr/>
        </p:nvSpPr>
        <p:spPr>
          <a:xfrm>
            <a:off x="0" y="2654089"/>
            <a:ext cx="8791139" cy="3063959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EB50-066E-E447-BFB0-CCBB3836C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Session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Vehicle Detection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D36BF-E373-E44B-92D9-D1ED3E79B9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CMPT742</a:t>
            </a:r>
            <a:r>
              <a:rPr lang="zh-CN" altLang="en-US" dirty="0"/>
              <a:t>  </a:t>
            </a:r>
            <a:r>
              <a:rPr lang="en-US" altLang="zh-CN" dirty="0"/>
              <a:t>-</a:t>
            </a:r>
            <a:r>
              <a:rPr lang="zh-CN" altLang="en-US" dirty="0"/>
              <a:t>  </a:t>
            </a:r>
            <a:r>
              <a:rPr lang="en-US" altLang="zh-CN" dirty="0"/>
              <a:t>Fall</a:t>
            </a:r>
            <a:r>
              <a:rPr lang="zh-CN" altLang="en-US" dirty="0"/>
              <a:t> </a:t>
            </a:r>
            <a:r>
              <a:rPr lang="en-US" altLang="zh-CN" dirty="0"/>
              <a:t>2018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E7B4BC1-9C9C-3C4A-9E14-60BEF5268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4" y="287877"/>
            <a:ext cx="5062436" cy="11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2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E31811-AA25-284F-AEC6-50E97ABF9443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48D60D-8210-2544-B174-0635F291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</a:t>
            </a:r>
            <a:r>
              <a:rPr lang="zh-CN" altLang="en-US" dirty="0"/>
              <a:t> </a:t>
            </a:r>
            <a:r>
              <a:rPr lang="en-US" altLang="zh-CN" dirty="0"/>
              <a:t>Session</a:t>
            </a:r>
            <a:r>
              <a:rPr lang="zh-CN" altLang="en-US" dirty="0"/>
              <a:t> </a:t>
            </a:r>
            <a:r>
              <a:rPr lang="en-US" altLang="zh-CN" dirty="0"/>
              <a:t>3:</a:t>
            </a:r>
            <a:r>
              <a:rPr lang="zh-CN" altLang="en-US" dirty="0"/>
              <a:t> </a:t>
            </a:r>
            <a:r>
              <a:rPr lang="en-US" altLang="zh-CN" dirty="0"/>
              <a:t>Overview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3B30D-F40C-6248-B256-FF592C7B0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3200" dirty="0"/>
              <a:t>Task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D2D8A4-0D61-A94C-AAC4-C63DF441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16" y="3030875"/>
            <a:ext cx="3474388" cy="28819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7E742D-088A-5842-9B8D-6B3792883B44}"/>
              </a:ext>
            </a:extLst>
          </p:cNvPr>
          <p:cNvSpPr txBox="1"/>
          <p:nvPr/>
        </p:nvSpPr>
        <p:spPr>
          <a:xfrm>
            <a:off x="2691413" y="6075811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0415DC-DD4B-374C-B3FA-0661331F1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07" y="3030875"/>
            <a:ext cx="3474388" cy="28819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F1E35D-88A6-6440-83BB-E197EA991A55}"/>
              </a:ext>
            </a:extLst>
          </p:cNvPr>
          <p:cNvSpPr txBox="1"/>
          <p:nvPr/>
        </p:nvSpPr>
        <p:spPr>
          <a:xfrm>
            <a:off x="8135004" y="6046883"/>
            <a:ext cx="1063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Predicted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44E5E7C0-B9FE-8541-9A57-39B18C6D4655}"/>
              </a:ext>
            </a:extLst>
          </p:cNvPr>
          <p:cNvSpPr/>
          <p:nvPr/>
        </p:nvSpPr>
        <p:spPr>
          <a:xfrm>
            <a:off x="5547722" y="4357526"/>
            <a:ext cx="410966" cy="22859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0F87F7-F309-924B-9952-A62B2EB4E9DC}"/>
              </a:ext>
            </a:extLst>
          </p:cNvPr>
          <p:cNvSpPr/>
          <p:nvPr/>
        </p:nvSpPr>
        <p:spPr>
          <a:xfrm>
            <a:off x="7243281" y="3792771"/>
            <a:ext cx="891723" cy="79335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6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Cityscapes dataset overview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04021"/>
            <a:ext cx="10363200" cy="3394075"/>
          </a:xfrm>
        </p:spPr>
        <p:txBody>
          <a:bodyPr/>
          <a:lstStyle/>
          <a:p>
            <a:r>
              <a:rPr lang="en-US" sz="2400" dirty="0"/>
              <a:t>3475 annotated + </a:t>
            </a:r>
            <a:r>
              <a:rPr lang="en-CA" sz="2400" dirty="0"/>
              <a:t>19998 extra annotated images</a:t>
            </a:r>
          </a:p>
          <a:p>
            <a:r>
              <a:rPr lang="en-CA" sz="2400" dirty="0"/>
              <a:t>Class Definitions:</a:t>
            </a:r>
          </a:p>
          <a:p>
            <a:pPr lvl="1"/>
            <a:r>
              <a:rPr lang="en-CA" sz="1867" dirty="0"/>
              <a:t>Vehicle, Humans, Object etc.</a:t>
            </a:r>
          </a:p>
          <a:p>
            <a:r>
              <a:rPr lang="en-CA" sz="2400" dirty="0"/>
              <a:t>Instance are segmented with polygons</a:t>
            </a:r>
          </a:p>
          <a:p>
            <a:pPr lvl="1"/>
            <a:r>
              <a:rPr lang="en-CA" sz="1867" dirty="0"/>
              <a:t>e.g.</a:t>
            </a:r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r>
              <a:rPr lang="en-CA" sz="1867" dirty="0"/>
              <a:t>each instance is related to one class label</a:t>
            </a:r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US" sz="1867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F9ED29-E4E2-B849-9C8F-AB22F3C94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352" y="3812263"/>
            <a:ext cx="1105248" cy="20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Prepare cityscapes dataset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04021"/>
            <a:ext cx="10363200" cy="3394075"/>
          </a:xfrm>
        </p:spPr>
        <p:txBody>
          <a:bodyPr/>
          <a:lstStyle/>
          <a:p>
            <a:r>
              <a:rPr lang="en-US" sz="2400" dirty="0"/>
              <a:t>1. We use extra dataset (19998 images)</a:t>
            </a:r>
          </a:p>
          <a:p>
            <a:r>
              <a:rPr lang="en-US" sz="2400" dirty="0"/>
              <a:t>2. Convert polygons to the bounding box</a:t>
            </a:r>
            <a:endParaRPr lang="en-CA" sz="2400" dirty="0"/>
          </a:p>
          <a:p>
            <a:pPr lvl="1"/>
            <a:r>
              <a:rPr lang="en-CA" sz="1867" dirty="0"/>
              <a:t>Load the polygons from </a:t>
            </a:r>
            <a:r>
              <a:rPr lang="en-CA" sz="1867" dirty="0" err="1"/>
              <a:t>json</a:t>
            </a:r>
            <a:r>
              <a:rPr lang="en-CA" sz="1867" dirty="0"/>
              <a:t>, you can use python’s </a:t>
            </a:r>
            <a:r>
              <a:rPr lang="en-CA" sz="1867" dirty="0" err="1"/>
              <a:t>json</a:t>
            </a:r>
            <a:r>
              <a:rPr lang="en-CA" sz="1867" dirty="0"/>
              <a:t> lib by </a:t>
            </a:r>
            <a:r>
              <a:rPr lang="en-CA" sz="1867" dirty="0">
                <a:highlight>
                  <a:srgbClr val="C0C0C0"/>
                </a:highlight>
                <a:latin typeface="Courier" pitchFamily="2" charset="0"/>
              </a:rPr>
              <a:t>import </a:t>
            </a:r>
            <a:r>
              <a:rPr lang="en-CA" sz="1867" dirty="0" err="1">
                <a:highlight>
                  <a:srgbClr val="C0C0C0"/>
                </a:highlight>
                <a:latin typeface="Courier" pitchFamily="2" charset="0"/>
              </a:rPr>
              <a:t>json</a:t>
            </a:r>
            <a:endParaRPr lang="en-CA" sz="1867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r>
              <a:rPr lang="en-CA" sz="1867" dirty="0"/>
              <a:t>Compute the bounding box by finding the max and min of the polygon vertices position.</a:t>
            </a:r>
          </a:p>
          <a:p>
            <a:pPr lvl="1"/>
            <a:r>
              <a:rPr lang="en-CA" sz="1867" dirty="0"/>
              <a:t>Demo</a:t>
            </a:r>
          </a:p>
          <a:p>
            <a:r>
              <a:rPr lang="en-CA" sz="2400" dirty="0"/>
              <a:t>3. Select ground-truth labels </a:t>
            </a:r>
          </a:p>
          <a:p>
            <a:pPr lvl="1"/>
            <a:r>
              <a:rPr lang="en-CA" sz="1867" dirty="0"/>
              <a:t>You can choose vehicles and human as the training positive samples, and the label index start from 1.</a:t>
            </a:r>
          </a:p>
          <a:p>
            <a:pPr lvl="1"/>
            <a:r>
              <a:rPr lang="en-CA" sz="1867" dirty="0"/>
              <a:t>Set the negative sample label to 0 </a:t>
            </a:r>
            <a:r>
              <a:rPr lang="en-CA" sz="1867" i="1" dirty="0">
                <a:solidFill>
                  <a:srgbClr val="C00000"/>
                </a:solidFill>
                <a:latin typeface="Courier" pitchFamily="2" charset="0"/>
              </a:rPr>
              <a:t>important</a:t>
            </a:r>
          </a:p>
          <a:p>
            <a:r>
              <a:rPr lang="en-CA" sz="2533" dirty="0"/>
              <a:t>4. Create the prior bounding box for each feature pixel</a:t>
            </a:r>
          </a:p>
          <a:p>
            <a:pPr lvl="1"/>
            <a:r>
              <a:rPr lang="en-CA" sz="2000" dirty="0"/>
              <a:t>When training, matching with the marked ground-truth bounding boxes and produce the training supervised labels. </a:t>
            </a:r>
          </a:p>
          <a:p>
            <a:pPr lvl="1"/>
            <a:r>
              <a:rPr lang="en-CA" sz="2000" dirty="0"/>
              <a:t>Detailed in following slides</a:t>
            </a:r>
          </a:p>
          <a:p>
            <a:pPr lvl="1"/>
            <a:endParaRPr lang="en-CA" sz="1867" i="1" dirty="0">
              <a:solidFill>
                <a:srgbClr val="C0000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6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E31811-AA25-284F-AEC6-50E97ABF9443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48D60D-8210-2544-B174-0635F291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Run forward of SSD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7E91FD-4276-4D43-8BE8-0F2B1A74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109" y="2484233"/>
            <a:ext cx="9519781" cy="303566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DDBFE3-00D5-4648-B112-86E9A79E8D6C}"/>
              </a:ext>
            </a:extLst>
          </p:cNvPr>
          <p:cNvSpPr/>
          <p:nvPr/>
        </p:nvSpPr>
        <p:spPr>
          <a:xfrm>
            <a:off x="1724411" y="2625815"/>
            <a:ext cx="4814175" cy="270941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4F49D-D0AD-6642-800E-93D02D10C434}"/>
              </a:ext>
            </a:extLst>
          </p:cNvPr>
          <p:cNvSpPr txBox="1"/>
          <p:nvPr/>
        </p:nvSpPr>
        <p:spPr>
          <a:xfrm>
            <a:off x="3866377" y="5335233"/>
            <a:ext cx="93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basenet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71622-3766-2542-A77F-0F29298B8021}"/>
              </a:ext>
            </a:extLst>
          </p:cNvPr>
          <p:cNvSpPr/>
          <p:nvPr/>
        </p:nvSpPr>
        <p:spPr>
          <a:xfrm>
            <a:off x="6739003" y="3496849"/>
            <a:ext cx="3883069" cy="2023050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03B05-962E-9849-9E09-7545977DE30D}"/>
              </a:ext>
            </a:extLst>
          </p:cNvPr>
          <p:cNvSpPr txBox="1"/>
          <p:nvPr/>
        </p:nvSpPr>
        <p:spPr>
          <a:xfrm>
            <a:off x="7757491" y="5519899"/>
            <a:ext cx="1987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Extra feature layers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F1F533-AE90-8A4E-B977-F0CB59C16E53}"/>
              </a:ext>
            </a:extLst>
          </p:cNvPr>
          <p:cNvCxnSpPr/>
          <p:nvPr/>
        </p:nvCxnSpPr>
        <p:spPr>
          <a:xfrm flipH="1">
            <a:off x="9369468" y="2154477"/>
            <a:ext cx="375683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2FA62D-0C6E-F14E-A706-DC21349B1A49}"/>
              </a:ext>
            </a:extLst>
          </p:cNvPr>
          <p:cNvSpPr txBox="1"/>
          <p:nvPr/>
        </p:nvSpPr>
        <p:spPr>
          <a:xfrm>
            <a:off x="8079288" y="1793095"/>
            <a:ext cx="374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Bounding Box Regressor and Classifier</a:t>
            </a:r>
          </a:p>
        </p:txBody>
      </p:sp>
    </p:spTree>
    <p:extLst>
      <p:ext uri="{BB962C8B-B14F-4D97-AF65-F5344CB8AC3E}">
        <p14:creationId xmlns:p14="http://schemas.microsoft.com/office/powerpoint/2010/main" val="303286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E31811-AA25-284F-AEC6-50E97ABF9443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48D60D-8210-2544-B174-0635F291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Run forward of SSD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E101E42-FDC4-E94C-889E-CF97C89CF92E}"/>
              </a:ext>
            </a:extLst>
          </p:cNvPr>
          <p:cNvSpPr txBox="1">
            <a:spLocks/>
          </p:cNvSpPr>
          <p:nvPr/>
        </p:nvSpPr>
        <p:spPr>
          <a:xfrm>
            <a:off x="609600" y="2004021"/>
            <a:ext cx="10363200" cy="3394075"/>
          </a:xfrm>
          <a:prstGeom prst="rect">
            <a:avLst/>
          </a:prstGeom>
        </p:spPr>
        <p:txBody>
          <a:bodyPr/>
          <a:lstStyle>
            <a:lvl1pPr marL="457189" indent="-457189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4267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3733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667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667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Courier" pitchFamily="2" charset="0"/>
              </a:rPr>
              <a:t>BaseNet</a:t>
            </a:r>
            <a:r>
              <a:rPr lang="en-US" sz="2400" dirty="0">
                <a:latin typeface="Courier" pitchFamily="2" charset="0"/>
              </a:rPr>
              <a:t>: </a:t>
            </a:r>
            <a:r>
              <a:rPr lang="en-US" sz="2400" dirty="0">
                <a:latin typeface="+mj-lt"/>
              </a:rPr>
              <a:t>Originally use </a:t>
            </a:r>
            <a:r>
              <a:rPr lang="en-US" sz="2400" b="1" i="1" dirty="0">
                <a:latin typeface="+mj-lt"/>
              </a:rPr>
              <a:t>VGG16</a:t>
            </a:r>
            <a:r>
              <a:rPr lang="en-US" sz="2400" dirty="0">
                <a:latin typeface="+mj-lt"/>
              </a:rPr>
              <a:t>, but we use </a:t>
            </a:r>
            <a:r>
              <a:rPr lang="en-US" sz="2400" b="1" i="1" dirty="0">
                <a:latin typeface="+mj-lt"/>
              </a:rPr>
              <a:t>MobileNetV2</a:t>
            </a:r>
            <a:r>
              <a:rPr lang="en-US" sz="2400" dirty="0">
                <a:latin typeface="+mj-lt"/>
              </a:rPr>
              <a:t> for fast computation</a:t>
            </a:r>
          </a:p>
          <a:p>
            <a:pPr lvl="1"/>
            <a:r>
              <a:rPr lang="en-US" sz="2000" dirty="0">
                <a:latin typeface="+mj-lt"/>
              </a:rPr>
              <a:t>MobileNetV2: </a:t>
            </a:r>
            <a:r>
              <a:rPr lang="en-US" sz="2000" dirty="0">
                <a:latin typeface="+mj-lt"/>
                <a:hlinkClick r:id="rId3"/>
              </a:rPr>
              <a:t>https://arxiv.org/abs/1801.04381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dirty="0">
                <a:latin typeface="+mj-lt"/>
              </a:rPr>
              <a:t>Implemented in </a:t>
            </a:r>
            <a:r>
              <a:rPr lang="en-US" sz="2000" i="1" dirty="0" err="1">
                <a:highlight>
                  <a:srgbClr val="C0C0C0"/>
                </a:highlight>
                <a:latin typeface="Courier" pitchFamily="2" charset="0"/>
              </a:rPr>
              <a:t>mobilenet.py</a:t>
            </a:r>
            <a:r>
              <a:rPr lang="en-US" sz="2000" i="1" dirty="0">
                <a:highlight>
                  <a:srgbClr val="C0C0C0"/>
                </a:highlight>
                <a:latin typeface="Courier" pitchFamily="2" charset="0"/>
              </a:rPr>
              <a:t>  </a:t>
            </a:r>
          </a:p>
          <a:p>
            <a:pPr lvl="1"/>
            <a:r>
              <a:rPr lang="en-US" altLang="zh-CN" sz="2000" dirty="0">
                <a:latin typeface="+mj-lt"/>
              </a:rPr>
              <a:t>Load</a:t>
            </a:r>
            <a:r>
              <a:rPr lang="zh-CN" altLang="en-US" sz="2000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the</a:t>
            </a:r>
            <a:r>
              <a:rPr lang="zh-CN" altLang="en-US" sz="2000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pretrained</a:t>
            </a:r>
            <a:r>
              <a:rPr lang="zh-CN" altLang="en-US" sz="2000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model</a:t>
            </a:r>
            <a:r>
              <a:rPr lang="zh-CN" altLang="en-US" sz="2000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before</a:t>
            </a:r>
            <a:r>
              <a:rPr lang="zh-CN" altLang="en-US" sz="2000" dirty="0">
                <a:latin typeface="+mj-lt"/>
              </a:rPr>
              <a:t> </a:t>
            </a:r>
            <a:r>
              <a:rPr lang="en-US" altLang="zh-CN" sz="2000" dirty="0">
                <a:latin typeface="+mj-lt"/>
              </a:rPr>
              <a:t>training: </a:t>
            </a:r>
            <a:r>
              <a:rPr lang="en-US" altLang="zh-CN" sz="1600" i="1" dirty="0">
                <a:latin typeface="Courier" pitchFamily="2" charset="0"/>
              </a:rPr>
              <a:t> </a:t>
            </a:r>
            <a:r>
              <a:rPr lang="en-US" altLang="zh-CN" sz="1600" i="1" dirty="0">
                <a:highlight>
                  <a:srgbClr val="C0C0C0"/>
                </a:highlight>
                <a:latin typeface="Courier" pitchFamily="2" charset="0"/>
              </a:rPr>
              <a:t>pretrained/mobienetv2.pth</a:t>
            </a:r>
            <a:endParaRPr lang="en-US" altLang="zh-CN" sz="2000" i="1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endParaRPr lang="en-US" sz="2000" dirty="0">
              <a:highlight>
                <a:srgbClr val="C0C0C0"/>
              </a:highlight>
              <a:latin typeface="+mj-lt"/>
            </a:endParaRPr>
          </a:p>
          <a:p>
            <a:r>
              <a:rPr lang="en-US" sz="2000" dirty="0"/>
              <a:t>Added following additional layers:</a:t>
            </a:r>
          </a:p>
          <a:p>
            <a:pPr lvl="1"/>
            <a:r>
              <a:rPr lang="en-US" sz="1800" dirty="0"/>
              <a:t>Extra feature extractor: Down-sampling the feature map with multiple levels, implement the sub-net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self</a:t>
            </a:r>
            <a:r>
              <a:rPr lang="en-CA" sz="1800" dirty="0" err="1">
                <a:highlight>
                  <a:srgbClr val="C0C0C0"/>
                </a:highlight>
                <a:latin typeface="Courier" pitchFamily="2" charset="0"/>
              </a:rPr>
              <a:t>.additional_feat_extractor</a:t>
            </a:r>
            <a:r>
              <a:rPr lang="en-US" sz="1800" dirty="0">
                <a:highlight>
                  <a:srgbClr val="C0C0C0"/>
                </a:highlight>
              </a:rPr>
              <a:t> </a:t>
            </a:r>
            <a:r>
              <a:rPr lang="en-US" sz="1800" dirty="0"/>
              <a:t>in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ssd_net.py</a:t>
            </a:r>
            <a:endParaRPr lang="en-US" sz="900" dirty="0"/>
          </a:p>
          <a:p>
            <a:pPr lvl="1"/>
            <a:r>
              <a:rPr lang="en-US" sz="1800" dirty="0"/>
              <a:t>Bounding box regressor: Predicting the offset for the prior bounding, implement the sub-net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self.loc_regressor</a:t>
            </a:r>
            <a:r>
              <a:rPr lang="en-CA" sz="1800" i="1" dirty="0">
                <a:highlight>
                  <a:srgbClr val="C0C0C0"/>
                </a:highlight>
                <a:latin typeface="Courier" pitchFamily="2" charset="0"/>
              </a:rPr>
              <a:t> </a:t>
            </a:r>
            <a:r>
              <a:rPr lang="en-US" sz="1800" dirty="0"/>
              <a:t>in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ssd_net.py</a:t>
            </a:r>
            <a:endParaRPr lang="en-CA" sz="1800" i="1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r>
              <a:rPr lang="en-US" sz="1800" dirty="0"/>
              <a:t>Bounding box classifier: Predicting the confidence score for each class, implement the sub-net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self.classifier</a:t>
            </a:r>
            <a:r>
              <a:rPr lang="en-CA" sz="1800" i="1" dirty="0">
                <a:highlight>
                  <a:srgbClr val="C0C0C0"/>
                </a:highlight>
                <a:latin typeface="Courier" pitchFamily="2" charset="0"/>
              </a:rPr>
              <a:t> </a:t>
            </a:r>
            <a:r>
              <a:rPr lang="en-US" sz="1800" dirty="0"/>
              <a:t>in </a:t>
            </a:r>
            <a:r>
              <a:rPr lang="en-CA" sz="1800" i="1" dirty="0" err="1">
                <a:highlight>
                  <a:srgbClr val="C0C0C0"/>
                </a:highlight>
                <a:latin typeface="Courier" pitchFamily="2" charset="0"/>
              </a:rPr>
              <a:t>ssd_net.py</a:t>
            </a:r>
            <a:endParaRPr lang="en-CA" sz="1800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endParaRPr lang="en-CA" sz="1800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endParaRPr lang="en-CA" sz="1400" i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56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E31811-AA25-284F-AEC6-50E97ABF9443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48D60D-8210-2544-B174-0635F291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Run forward ste</a:t>
            </a:r>
            <a:r>
              <a:rPr lang="en-US" altLang="zh-CN" sz="4800" dirty="0"/>
              <a:t>p</a:t>
            </a:r>
            <a:r>
              <a:rPr lang="zh-CN" altLang="en-US" sz="4800" dirty="0"/>
              <a:t> </a:t>
            </a:r>
            <a:r>
              <a:rPr lang="en-US" altLang="zh-CN" sz="4800" dirty="0"/>
              <a:t>by</a:t>
            </a:r>
            <a:r>
              <a:rPr lang="zh-CN" altLang="en-US" sz="4800" dirty="0"/>
              <a:t> </a:t>
            </a:r>
            <a:r>
              <a:rPr lang="en-US" altLang="zh-CN" sz="4800" dirty="0"/>
              <a:t>step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47B6D-4220-534C-BCF3-AA50B07879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</a:blip>
          <a:stretch>
            <a:fillRect/>
          </a:stretch>
        </p:blipFill>
        <p:spPr>
          <a:xfrm>
            <a:off x="263048" y="2240185"/>
            <a:ext cx="11928953" cy="38039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2DD3278-5D7E-EA4D-A517-C0B4DF4340D9}"/>
              </a:ext>
            </a:extLst>
          </p:cNvPr>
          <p:cNvGrpSpPr/>
          <p:nvPr/>
        </p:nvGrpSpPr>
        <p:grpSpPr>
          <a:xfrm>
            <a:off x="263048" y="1806171"/>
            <a:ext cx="3832964" cy="748366"/>
            <a:chOff x="263048" y="1806171"/>
            <a:chExt cx="3832964" cy="748366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ADE3A509-CD12-9140-8B66-ECA5CCC0693A}"/>
                </a:ext>
              </a:extLst>
            </p:cNvPr>
            <p:cNvSpPr/>
            <p:nvPr/>
          </p:nvSpPr>
          <p:spPr>
            <a:xfrm>
              <a:off x="488515" y="2429277"/>
              <a:ext cx="2918565" cy="12526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7E4AC3-157F-D246-8EA1-0425C07ABA8F}"/>
                </a:ext>
              </a:extLst>
            </p:cNvPr>
            <p:cNvSpPr txBox="1"/>
            <p:nvPr/>
          </p:nvSpPr>
          <p:spPr>
            <a:xfrm>
              <a:off x="263048" y="1806171"/>
              <a:ext cx="383296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i="1" dirty="0"/>
                <a:t>1</a:t>
              </a:r>
              <a:r>
                <a:rPr lang="en-US" altLang="zh-CN" sz="1400" dirty="0"/>
                <a:t>.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Run</a:t>
              </a:r>
              <a:r>
                <a:rPr lang="zh-CN" altLang="en-US" sz="1400" dirty="0"/>
                <a:t> </a:t>
              </a:r>
              <a:r>
                <a:rPr lang="en-US" altLang="zh-CN" sz="1400" dirty="0" err="1"/>
                <a:t>basenet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forward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from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layer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0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to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layer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11.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Use</a:t>
              </a:r>
              <a:r>
                <a:rPr lang="zh-CN" altLang="en-US" sz="1400" dirty="0"/>
                <a:t> </a:t>
              </a:r>
              <a:r>
                <a:rPr lang="en-CA" sz="1400" dirty="0" err="1">
                  <a:highlight>
                    <a:srgbClr val="C0C0C0"/>
                  </a:highlight>
                  <a:latin typeface="Courier" pitchFamily="2" charset="0"/>
                </a:rPr>
                <a:t>module_util.forward_from</a:t>
              </a:r>
              <a:r>
                <a:rPr lang="en-US" sz="1400" dirty="0">
                  <a:highlight>
                    <a:srgbClr val="C0C0C0"/>
                  </a:highlight>
                  <a:latin typeface="Courier" pitchFamily="2" charset="0"/>
                </a:rPr>
                <a:t>()</a:t>
              </a:r>
              <a:endParaRPr lang="en-CA" sz="1400" dirty="0">
                <a:highlight>
                  <a:srgbClr val="C0C0C0"/>
                </a:highlight>
                <a:latin typeface="Courier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B8F087-CCBC-BD45-BFE3-30E5308AFD66}"/>
              </a:ext>
            </a:extLst>
          </p:cNvPr>
          <p:cNvGrpSpPr/>
          <p:nvPr/>
        </p:nvGrpSpPr>
        <p:grpSpPr>
          <a:xfrm>
            <a:off x="4179518" y="1928678"/>
            <a:ext cx="7514946" cy="861774"/>
            <a:chOff x="4179518" y="1928678"/>
            <a:chExt cx="7514946" cy="861774"/>
          </a:xfrm>
        </p:grpSpPr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0D603C59-E06D-6441-8A52-7380AA79E7B3}"/>
                </a:ext>
              </a:extLst>
            </p:cNvPr>
            <p:cNvSpPr/>
            <p:nvPr/>
          </p:nvSpPr>
          <p:spPr>
            <a:xfrm>
              <a:off x="4179518" y="2554536"/>
              <a:ext cx="7514946" cy="119755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B10D49-339E-4C47-B7A0-B1D1027DE3DD}"/>
                </a:ext>
              </a:extLst>
            </p:cNvPr>
            <p:cNvSpPr txBox="1"/>
            <p:nvPr/>
          </p:nvSpPr>
          <p:spPr>
            <a:xfrm>
              <a:off x="4179518" y="1928678"/>
              <a:ext cx="5127320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i="1" dirty="0"/>
                <a:t>2</a:t>
              </a:r>
              <a:r>
                <a:rPr lang="en-US" altLang="zh-CN" sz="1600" dirty="0"/>
                <a:t>.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Run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bounding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box</a:t>
              </a:r>
              <a:r>
                <a:rPr lang="zh-CN" altLang="en-US" sz="1600" dirty="0"/>
                <a:t>  </a:t>
              </a:r>
              <a:r>
                <a:rPr lang="en-US" altLang="zh-CN" sz="1600" dirty="0"/>
                <a:t>regressor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and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classifier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on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the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first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feature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layer.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Refer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to</a:t>
              </a:r>
              <a:r>
                <a:rPr lang="zh-CN" altLang="en-US" sz="1600" dirty="0"/>
                <a:t> </a:t>
              </a:r>
              <a:r>
                <a:rPr lang="en-CA" sz="1400" i="1" dirty="0" err="1">
                  <a:highlight>
                    <a:srgbClr val="C0C0C0"/>
                  </a:highlight>
                  <a:latin typeface="Courier" pitchFamily="2" charset="0"/>
                </a:rPr>
                <a:t>self</a:t>
              </a:r>
              <a:r>
                <a:rPr lang="en-CA" sz="1400" dirty="0" err="1">
                  <a:highlight>
                    <a:srgbClr val="C0C0C0"/>
                  </a:highlight>
                  <a:latin typeface="Courier" pitchFamily="2" charset="0"/>
                </a:rPr>
                <a:t>.feature_to_bbbox</a:t>
              </a:r>
              <a:r>
                <a:rPr lang="en-CA" sz="1400" dirty="0">
                  <a:highlight>
                    <a:srgbClr val="C0C0C0"/>
                  </a:highlight>
                  <a:latin typeface="Courier" pitchFamily="2" charset="0"/>
                </a:rPr>
                <a:t>()</a:t>
              </a:r>
            </a:p>
            <a:p>
              <a:endParaRPr lang="en-CA" sz="1600" dirty="0">
                <a:highlight>
                  <a:srgbClr val="C0C0C0"/>
                </a:highlight>
                <a:latin typeface="Courier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158A4B-00CA-204C-9596-A4F9DA585887}"/>
              </a:ext>
            </a:extLst>
          </p:cNvPr>
          <p:cNvGrpSpPr/>
          <p:nvPr/>
        </p:nvGrpSpPr>
        <p:grpSpPr>
          <a:xfrm>
            <a:off x="3810001" y="5970637"/>
            <a:ext cx="3832964" cy="769913"/>
            <a:chOff x="263048" y="1621033"/>
            <a:chExt cx="3832964" cy="769913"/>
          </a:xfrm>
        </p:grpSpPr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8154B652-A841-894A-A87D-71D474C5074D}"/>
                </a:ext>
              </a:extLst>
            </p:cNvPr>
            <p:cNvSpPr/>
            <p:nvPr/>
          </p:nvSpPr>
          <p:spPr>
            <a:xfrm>
              <a:off x="263048" y="1621033"/>
              <a:ext cx="3229626" cy="185137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07A8E7-FF45-5247-8557-66EDD8888AAD}"/>
                </a:ext>
              </a:extLst>
            </p:cNvPr>
            <p:cNvSpPr txBox="1"/>
            <p:nvPr/>
          </p:nvSpPr>
          <p:spPr>
            <a:xfrm>
              <a:off x="263048" y="1806171"/>
              <a:ext cx="38329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i="1" dirty="0"/>
                <a:t>3</a:t>
              </a:r>
              <a:r>
                <a:rPr lang="en-US" altLang="zh-CN" sz="1600" dirty="0"/>
                <a:t>.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Run</a:t>
              </a:r>
              <a:r>
                <a:rPr lang="zh-CN" altLang="en-US" sz="1600" dirty="0"/>
                <a:t> </a:t>
              </a:r>
              <a:r>
                <a:rPr lang="en-US" altLang="zh-CN" sz="1600" dirty="0" err="1"/>
                <a:t>basenet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forward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from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layer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11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to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layer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13.</a:t>
              </a:r>
              <a:r>
                <a:rPr lang="zh-CN" altLang="en-US" sz="1600" dirty="0"/>
                <a:t> </a:t>
              </a:r>
              <a:endParaRPr lang="en-CA" sz="1600" dirty="0">
                <a:highlight>
                  <a:srgbClr val="C0C0C0"/>
                </a:highlight>
                <a:latin typeface="Courier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A4EF8B5-48B4-AC47-83F2-0F132FFE5967}"/>
              </a:ext>
            </a:extLst>
          </p:cNvPr>
          <p:cNvGrpSpPr/>
          <p:nvPr/>
        </p:nvGrpSpPr>
        <p:grpSpPr>
          <a:xfrm>
            <a:off x="4759891" y="3193717"/>
            <a:ext cx="7010063" cy="887072"/>
            <a:chOff x="4759891" y="3193717"/>
            <a:chExt cx="7010063" cy="887072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B937A06A-604B-574F-AA8F-25F400E05139}"/>
                </a:ext>
              </a:extLst>
            </p:cNvPr>
            <p:cNvSpPr/>
            <p:nvPr/>
          </p:nvSpPr>
          <p:spPr>
            <a:xfrm>
              <a:off x="6626267" y="3356135"/>
              <a:ext cx="5143687" cy="113575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F4358B-768F-D043-8E9A-C9C01747EF4A}"/>
                </a:ext>
              </a:extLst>
            </p:cNvPr>
            <p:cNvSpPr/>
            <p:nvPr/>
          </p:nvSpPr>
          <p:spPr>
            <a:xfrm>
              <a:off x="4759891" y="3193717"/>
              <a:ext cx="2417522" cy="887072"/>
            </a:xfrm>
            <a:prstGeom prst="rect">
              <a:avLst/>
            </a:prstGeom>
            <a:ln w="34925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sz="1400" b="1" i="1" dirty="0"/>
                <a:t>4</a:t>
              </a:r>
              <a:r>
                <a:rPr lang="en-US" altLang="zh-CN" sz="1400" dirty="0"/>
                <a:t>.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Run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bounding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box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regressor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and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classifier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second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feature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layer</a:t>
              </a:r>
              <a:endParaRPr lang="en-US" sz="14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7A704F-20DA-4A4C-A648-D99F57F18161}"/>
              </a:ext>
            </a:extLst>
          </p:cNvPr>
          <p:cNvGrpSpPr/>
          <p:nvPr/>
        </p:nvGrpSpPr>
        <p:grpSpPr>
          <a:xfrm>
            <a:off x="8012482" y="4227446"/>
            <a:ext cx="3757472" cy="1816641"/>
            <a:chOff x="8012482" y="4227446"/>
            <a:chExt cx="3757472" cy="1816641"/>
          </a:xfrm>
        </p:grpSpPr>
        <p:sp>
          <p:nvSpPr>
            <p:cNvPr id="19" name="Right Arrow 18">
              <a:extLst>
                <a:ext uri="{FF2B5EF4-FFF2-40B4-BE49-F238E27FC236}">
                  <a16:creationId xmlns:a16="http://schemas.microsoft.com/office/drawing/2014/main" id="{4F15D0A1-D1DF-9C46-9314-603311DF032F}"/>
                </a:ext>
              </a:extLst>
            </p:cNvPr>
            <p:cNvSpPr/>
            <p:nvPr/>
          </p:nvSpPr>
          <p:spPr>
            <a:xfrm>
              <a:off x="8893479" y="4227446"/>
              <a:ext cx="2876475" cy="119086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32BD152B-60F1-9C4D-88D2-19399A0F92E6}"/>
                </a:ext>
              </a:extLst>
            </p:cNvPr>
            <p:cNvSpPr/>
            <p:nvPr/>
          </p:nvSpPr>
          <p:spPr>
            <a:xfrm>
              <a:off x="10070926" y="4780545"/>
              <a:ext cx="1699028" cy="129657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Arrow 20">
              <a:extLst>
                <a:ext uri="{FF2B5EF4-FFF2-40B4-BE49-F238E27FC236}">
                  <a16:creationId xmlns:a16="http://schemas.microsoft.com/office/drawing/2014/main" id="{009C68C4-E173-9D44-9FE8-88319F593379}"/>
                </a:ext>
              </a:extLst>
            </p:cNvPr>
            <p:cNvSpPr/>
            <p:nvPr/>
          </p:nvSpPr>
          <p:spPr>
            <a:xfrm>
              <a:off x="11135638" y="5317718"/>
              <a:ext cx="634316" cy="181208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8EFE37-505A-7541-82FA-DCE2C9C5E4C6}"/>
                </a:ext>
              </a:extLst>
            </p:cNvPr>
            <p:cNvSpPr/>
            <p:nvPr/>
          </p:nvSpPr>
          <p:spPr>
            <a:xfrm>
              <a:off x="8012482" y="5157015"/>
              <a:ext cx="3123156" cy="887072"/>
            </a:xfrm>
            <a:prstGeom prst="rect">
              <a:avLst/>
            </a:prstGeom>
            <a:ln w="34925">
              <a:solidFill>
                <a:srgbClr val="00B0F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sz="1400" b="1" i="1" dirty="0"/>
                <a:t>5</a:t>
              </a:r>
              <a:r>
                <a:rPr lang="en-US" altLang="zh-CN" sz="1400" dirty="0"/>
                <a:t>.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Iterative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forward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the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feature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on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extra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layers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and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then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run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the</a:t>
              </a:r>
              <a:r>
                <a:rPr lang="zh-CN" altLang="en-US" sz="1400" dirty="0"/>
                <a:t> </a:t>
              </a:r>
              <a:r>
                <a:rPr lang="en-US" altLang="zh-CN" sz="1400" dirty="0" err="1"/>
                <a:t>bbox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regress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&amp;classifier</a:t>
              </a:r>
              <a:r>
                <a:rPr lang="zh-CN" altLang="en-US" sz="1400" dirty="0"/>
                <a:t> </a:t>
              </a:r>
              <a:r>
                <a:rPr lang="en-US" altLang="zh-CN" sz="1400" dirty="0"/>
                <a:t>iteratively</a:t>
              </a:r>
              <a:endParaRPr lang="en-US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F90C00-DEF2-6241-B20F-0D019BA32A96}"/>
              </a:ext>
            </a:extLst>
          </p:cNvPr>
          <p:cNvGrpSpPr/>
          <p:nvPr/>
        </p:nvGrpSpPr>
        <p:grpSpPr>
          <a:xfrm>
            <a:off x="7642965" y="4212895"/>
            <a:ext cx="2427961" cy="731338"/>
            <a:chOff x="7642965" y="4212895"/>
            <a:chExt cx="2427961" cy="731338"/>
          </a:xfrm>
        </p:grpSpPr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8194F4CC-1933-6440-A951-051AC21A8D70}"/>
                </a:ext>
              </a:extLst>
            </p:cNvPr>
            <p:cNvSpPr/>
            <p:nvPr/>
          </p:nvSpPr>
          <p:spPr>
            <a:xfrm>
              <a:off x="7642965" y="4212895"/>
              <a:ext cx="1240076" cy="19601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03BD4B1B-2C5C-D844-AD79-35843813FB34}"/>
                </a:ext>
              </a:extLst>
            </p:cNvPr>
            <p:cNvSpPr/>
            <p:nvPr/>
          </p:nvSpPr>
          <p:spPr>
            <a:xfrm>
              <a:off x="8830850" y="4748214"/>
              <a:ext cx="1240076" cy="19601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023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Training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88" y="2056310"/>
            <a:ext cx="10363200" cy="4672352"/>
          </a:xfrm>
        </p:spPr>
        <p:txBody>
          <a:bodyPr/>
          <a:lstStyle/>
          <a:p>
            <a:r>
              <a:rPr lang="en-US" sz="2400" dirty="0"/>
              <a:t>1. </a:t>
            </a:r>
            <a:r>
              <a:rPr lang="en-US" altLang="zh-CN" sz="2400" dirty="0"/>
              <a:t>Prepare</a:t>
            </a:r>
            <a:r>
              <a:rPr lang="zh-CN" altLang="en-US" sz="2400" dirty="0"/>
              <a:t> </a:t>
            </a:r>
            <a:r>
              <a:rPr lang="en-US" altLang="zh-CN" sz="2400" dirty="0"/>
              <a:t>Prior</a:t>
            </a:r>
            <a:r>
              <a:rPr lang="zh-CN" altLang="en-US" sz="2400" dirty="0"/>
              <a:t> </a:t>
            </a:r>
            <a:r>
              <a:rPr lang="en-US" altLang="zh-CN" sz="2400" dirty="0"/>
              <a:t>Bounding</a:t>
            </a:r>
            <a:r>
              <a:rPr lang="zh-CN" altLang="en-US" sz="2400" dirty="0"/>
              <a:t> </a:t>
            </a:r>
            <a:r>
              <a:rPr lang="en-US" altLang="zh-CN" sz="2400" dirty="0"/>
              <a:t>Box</a:t>
            </a:r>
          </a:p>
          <a:p>
            <a:pPr lvl="1"/>
            <a:r>
              <a:rPr lang="en-US" altLang="zh-CN" sz="1867" dirty="0"/>
              <a:t>Generate</a:t>
            </a:r>
            <a:r>
              <a:rPr lang="zh-CN" altLang="en-US" sz="1867" dirty="0"/>
              <a:t> </a:t>
            </a:r>
            <a:r>
              <a:rPr lang="en-US" altLang="zh-CN" sz="1867" dirty="0"/>
              <a:t>preset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endParaRPr lang="en-CA" altLang="zh-CN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r>
              <a:rPr lang="en-US" altLang="zh-CN" sz="1867" dirty="0"/>
              <a:t>Implement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CA" altLang="zh-CN" sz="1867" i="1" dirty="0" err="1">
                <a:highlight>
                  <a:srgbClr val="C0C0C0"/>
                </a:highlight>
                <a:latin typeface="Courier" pitchFamily="2" charset="0"/>
              </a:rPr>
              <a:t>generate_prior_bboxes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i="1" dirty="0" err="1">
                <a:highlight>
                  <a:srgbClr val="C0C0C0"/>
                </a:highlight>
                <a:latin typeface="Courier" pitchFamily="2" charset="0"/>
              </a:rPr>
              <a:t>bbox_helper.py</a:t>
            </a:r>
            <a:endParaRPr lang="en-US" altLang="zh-CN" sz="1867" i="1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r>
              <a:rPr lang="en-US" altLang="zh-CN" sz="1867" dirty="0" err="1"/>
              <a:t>Init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prior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b="1" i="1" dirty="0" err="1"/>
              <a:t>dataloader</a:t>
            </a:r>
            <a:r>
              <a:rPr lang="en-US" altLang="zh-CN" sz="1867" dirty="0"/>
              <a:t>,</a:t>
            </a:r>
            <a:r>
              <a:rPr lang="zh-CN" altLang="en-US" sz="1867" dirty="0"/>
              <a:t> </a:t>
            </a:r>
            <a:r>
              <a:rPr lang="en-US" altLang="zh-CN" sz="1867" dirty="0"/>
              <a:t>when</a:t>
            </a:r>
            <a:r>
              <a:rPr lang="zh-CN" altLang="en-US" sz="1867" dirty="0"/>
              <a:t> </a:t>
            </a:r>
            <a:r>
              <a:rPr lang="en-US" altLang="zh-CN" sz="1867" dirty="0"/>
              <a:t>loading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training</a:t>
            </a:r>
            <a:r>
              <a:rPr lang="zh-CN" altLang="en-US" sz="1867" dirty="0"/>
              <a:t> </a:t>
            </a:r>
            <a:r>
              <a:rPr lang="en-US" altLang="zh-CN" sz="1867" dirty="0"/>
              <a:t>data,</a:t>
            </a:r>
            <a:r>
              <a:rPr lang="zh-CN" altLang="en-US" sz="1867" dirty="0"/>
              <a:t> </a:t>
            </a:r>
            <a:r>
              <a:rPr lang="en-US" altLang="zh-CN" sz="1867" dirty="0"/>
              <a:t>matching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ground-truth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with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prior</a:t>
            </a:r>
            <a:r>
              <a:rPr lang="zh-CN" altLang="en-US" sz="1867" dirty="0"/>
              <a:t> </a:t>
            </a:r>
            <a:r>
              <a:rPr lang="en-US" altLang="zh-CN" sz="1867" dirty="0"/>
              <a:t>defined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and</a:t>
            </a:r>
            <a:r>
              <a:rPr lang="zh-CN" altLang="en-US" sz="1867" dirty="0"/>
              <a:t> </a:t>
            </a:r>
            <a:r>
              <a:rPr lang="en-US" altLang="zh-CN" sz="1867" dirty="0"/>
              <a:t>produce</a:t>
            </a:r>
            <a:r>
              <a:rPr lang="zh-CN" altLang="en-US" sz="1867" dirty="0"/>
              <a:t> </a:t>
            </a:r>
            <a:r>
              <a:rPr lang="en-US" altLang="zh-CN" sz="1867" dirty="0"/>
              <a:t>positive</a:t>
            </a:r>
            <a:r>
              <a:rPr lang="zh-CN" altLang="en-US" sz="1867" dirty="0"/>
              <a:t> </a:t>
            </a:r>
            <a:r>
              <a:rPr lang="en-US" altLang="zh-CN" sz="1867" dirty="0"/>
              <a:t>examples</a:t>
            </a:r>
            <a:r>
              <a:rPr lang="zh-CN" altLang="en-US" sz="1867" dirty="0"/>
              <a:t> </a:t>
            </a:r>
            <a:r>
              <a:rPr lang="en-US" altLang="zh-CN" sz="1867" dirty="0"/>
              <a:t>for</a:t>
            </a:r>
            <a:r>
              <a:rPr lang="zh-CN" altLang="en-US" sz="1867" dirty="0"/>
              <a:t> </a:t>
            </a:r>
            <a:r>
              <a:rPr lang="en-US" altLang="zh-CN" sz="1867" dirty="0"/>
              <a:t>supervised</a:t>
            </a:r>
            <a:r>
              <a:rPr lang="zh-CN" altLang="en-US" sz="1867" dirty="0"/>
              <a:t> </a:t>
            </a:r>
            <a:r>
              <a:rPr lang="en-US" altLang="zh-CN" sz="1867" dirty="0"/>
              <a:t>training,</a:t>
            </a:r>
            <a:r>
              <a:rPr lang="zh-CN" altLang="en-US" sz="1867" dirty="0"/>
              <a:t> </a:t>
            </a:r>
            <a:r>
              <a:rPr lang="en-US" altLang="zh-CN" sz="1867" dirty="0"/>
              <a:t>implement</a:t>
            </a:r>
            <a:r>
              <a:rPr lang="zh-CN" altLang="en-US" sz="1867" dirty="0"/>
              <a:t> </a:t>
            </a:r>
            <a:r>
              <a:rPr lang="en-US" altLang="zh-CN" sz="1867" dirty="0"/>
              <a:t>matching</a:t>
            </a:r>
            <a:r>
              <a:rPr lang="zh-CN" altLang="en-US" sz="1867" dirty="0"/>
              <a:t> </a:t>
            </a:r>
            <a:r>
              <a:rPr lang="en-US" altLang="zh-CN" sz="1867" dirty="0"/>
              <a:t>prior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CA" altLang="zh-CN" sz="1867" i="1" dirty="0" err="1">
                <a:highlight>
                  <a:srgbClr val="C0C0C0"/>
                </a:highlight>
                <a:latin typeface="Courier" pitchFamily="2" charset="0"/>
              </a:rPr>
              <a:t>match_priors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  <a:r>
              <a:rPr lang="en-US" altLang="zh-CN" sz="1867" dirty="0"/>
              <a:t>,</a:t>
            </a:r>
            <a:r>
              <a:rPr lang="zh-CN" altLang="en-US" sz="1867" dirty="0"/>
              <a:t> </a:t>
            </a:r>
            <a:r>
              <a:rPr lang="en-US" altLang="zh-CN" sz="1867" dirty="0"/>
              <a:t>see</a:t>
            </a:r>
            <a:r>
              <a:rPr lang="zh-CN" altLang="en-US" sz="1867" dirty="0"/>
              <a:t> </a:t>
            </a:r>
            <a:r>
              <a:rPr lang="en-CA" sz="1867" b="1" dirty="0"/>
              <a:t>Matching strategy</a:t>
            </a:r>
            <a:r>
              <a:rPr lang="zh-CN" altLang="en-US" sz="1867" b="1" dirty="0"/>
              <a:t> </a:t>
            </a:r>
            <a:r>
              <a:rPr lang="en-US" altLang="zh-CN" sz="1867" dirty="0"/>
              <a:t>(SSD</a:t>
            </a:r>
            <a:r>
              <a:rPr lang="zh-CN" altLang="en-US" sz="1867" dirty="0"/>
              <a:t> </a:t>
            </a:r>
            <a:r>
              <a:rPr lang="en-US" altLang="zh-CN" sz="1867" dirty="0"/>
              <a:t>paper</a:t>
            </a:r>
            <a:r>
              <a:rPr lang="zh-CN" altLang="en-US" sz="1867" dirty="0"/>
              <a:t>*</a:t>
            </a:r>
            <a:r>
              <a:rPr lang="en-US" altLang="zh-CN" sz="1867" dirty="0"/>
              <a:t>,</a:t>
            </a:r>
            <a:r>
              <a:rPr lang="zh-CN" altLang="en-US" sz="1867" dirty="0"/>
              <a:t> </a:t>
            </a:r>
            <a:r>
              <a:rPr lang="en-US" altLang="zh-CN" sz="1867" dirty="0"/>
              <a:t>page</a:t>
            </a:r>
            <a:r>
              <a:rPr lang="zh-CN" altLang="en-US" sz="1867" dirty="0"/>
              <a:t> </a:t>
            </a:r>
            <a:r>
              <a:rPr lang="en-US" altLang="zh-CN" sz="1867" dirty="0"/>
              <a:t>5)</a:t>
            </a:r>
            <a:r>
              <a:rPr lang="zh-CN" altLang="en-US" sz="1867" dirty="0"/>
              <a:t> </a:t>
            </a:r>
            <a:r>
              <a:rPr lang="en-US" altLang="zh-CN" sz="1867" dirty="0"/>
              <a:t>for</a:t>
            </a:r>
            <a:r>
              <a:rPr lang="zh-CN" altLang="en-US" sz="1867" dirty="0"/>
              <a:t> </a:t>
            </a:r>
            <a:r>
              <a:rPr lang="en-US" altLang="zh-CN" sz="1867" dirty="0"/>
              <a:t>reference.</a:t>
            </a:r>
            <a:endParaRPr lang="en-CA" sz="1867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7F527-1919-8046-A558-E643AE100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20" y="3025726"/>
            <a:ext cx="1762303" cy="1930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C97E2C-699B-0D4F-A398-9F384D335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112" y="3025726"/>
            <a:ext cx="1718918" cy="193014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F16BB6B-3BED-F14B-9674-AED3CA44EC0F}"/>
              </a:ext>
            </a:extLst>
          </p:cNvPr>
          <p:cNvCxnSpPr/>
          <p:nvPr/>
        </p:nvCxnSpPr>
        <p:spPr>
          <a:xfrm flipH="1">
            <a:off x="6570856" y="4019607"/>
            <a:ext cx="1620347" cy="167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3A5158-A714-D64B-9B9A-8B5507CA7E61}"/>
              </a:ext>
            </a:extLst>
          </p:cNvPr>
          <p:cNvSpPr txBox="1"/>
          <p:nvPr/>
        </p:nvSpPr>
        <p:spPr>
          <a:xfrm>
            <a:off x="7828909" y="3746155"/>
            <a:ext cx="3674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 </a:t>
            </a:r>
            <a:r>
              <a:rPr lang="en-US" altLang="zh-CN" dirty="0"/>
              <a:t>preset</a:t>
            </a:r>
            <a:r>
              <a:rPr lang="zh-CN" altLang="en-US" dirty="0"/>
              <a:t> </a:t>
            </a:r>
            <a:r>
              <a:rPr lang="en-US" altLang="zh-CN" dirty="0"/>
              <a:t>bounding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endParaRPr lang="en-CA" altLang="zh-CN" dirty="0"/>
          </a:p>
          <a:p>
            <a:r>
              <a:rPr lang="en-US" altLang="zh-CN" dirty="0"/>
              <a:t>aspect</a:t>
            </a:r>
            <a:r>
              <a:rPr lang="zh-CN" altLang="en-US" dirty="0"/>
              <a:t> </a:t>
            </a:r>
            <a:r>
              <a:rPr lang="en-US" altLang="zh-CN" dirty="0"/>
              <a:t>ratio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5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Training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88" y="2056310"/>
            <a:ext cx="10363200" cy="4672352"/>
          </a:xfrm>
        </p:spPr>
        <p:txBody>
          <a:bodyPr/>
          <a:lstStyle/>
          <a:p>
            <a:r>
              <a:rPr lang="en-US" altLang="zh-CN" sz="2400" dirty="0"/>
              <a:t>2</a:t>
            </a:r>
            <a:r>
              <a:rPr lang="en-US" sz="2400" dirty="0"/>
              <a:t>. </a:t>
            </a:r>
            <a:r>
              <a:rPr lang="en-US" altLang="zh-CN" sz="2400" dirty="0"/>
              <a:t>Define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Loss</a:t>
            </a:r>
            <a:r>
              <a:rPr lang="zh-CN" altLang="en-US" sz="2400" dirty="0"/>
              <a:t> </a:t>
            </a:r>
            <a:r>
              <a:rPr lang="en-US" altLang="zh-CN" sz="2400" dirty="0"/>
              <a:t>function</a:t>
            </a:r>
          </a:p>
          <a:p>
            <a:pPr lvl="1"/>
            <a:r>
              <a:rPr lang="en-US" altLang="zh-CN" sz="1867" dirty="0"/>
              <a:t>Hard</a:t>
            </a:r>
            <a:r>
              <a:rPr lang="zh-CN" altLang="en-US" sz="1867" dirty="0"/>
              <a:t> </a:t>
            </a:r>
            <a:r>
              <a:rPr lang="en-US" altLang="zh-CN" sz="1867" dirty="0"/>
              <a:t>Negative</a:t>
            </a:r>
            <a:r>
              <a:rPr lang="zh-CN" altLang="en-US" sz="1867" dirty="0"/>
              <a:t> </a:t>
            </a:r>
            <a:r>
              <a:rPr lang="en-US" altLang="zh-CN" sz="1867" dirty="0"/>
              <a:t>Mining:</a:t>
            </a:r>
            <a:r>
              <a:rPr lang="zh-CN" altLang="en-US" sz="1867" dirty="0"/>
              <a:t> </a:t>
            </a:r>
            <a:r>
              <a:rPr lang="en-US" altLang="zh-CN" sz="1867" dirty="0"/>
              <a:t>Balance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positive</a:t>
            </a:r>
            <a:r>
              <a:rPr lang="zh-CN" altLang="en-US" sz="1867" dirty="0"/>
              <a:t> </a:t>
            </a:r>
            <a:r>
              <a:rPr lang="en-US" altLang="zh-CN" sz="1867" dirty="0"/>
              <a:t>samples</a:t>
            </a:r>
            <a:r>
              <a:rPr lang="zh-CN" altLang="en-US" sz="1867" dirty="0"/>
              <a:t> </a:t>
            </a:r>
            <a:r>
              <a:rPr lang="en-US" altLang="zh-CN" sz="1867" dirty="0"/>
              <a:t>and</a:t>
            </a:r>
            <a:r>
              <a:rPr lang="zh-CN" altLang="en-US" sz="1867" dirty="0"/>
              <a:t> </a:t>
            </a:r>
            <a:r>
              <a:rPr lang="en-US" altLang="zh-CN" sz="1867" dirty="0"/>
              <a:t>negative</a:t>
            </a:r>
            <a:r>
              <a:rPr lang="zh-CN" altLang="en-US" sz="1867" dirty="0"/>
              <a:t> </a:t>
            </a:r>
            <a:r>
              <a:rPr lang="en-US" altLang="zh-CN" sz="1867" dirty="0"/>
              <a:t>samples.</a:t>
            </a:r>
            <a:r>
              <a:rPr lang="zh-CN" altLang="en-US" sz="1867" dirty="0"/>
              <a:t> </a:t>
            </a:r>
            <a:r>
              <a:rPr lang="en-US" altLang="zh-CN" sz="1867" dirty="0"/>
              <a:t>implemented</a:t>
            </a:r>
            <a:r>
              <a:rPr lang="zh-CN" altLang="en-US" sz="1867" dirty="0"/>
              <a:t> 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CA" altLang="zh-CN" sz="1867" i="1" dirty="0" err="1">
                <a:highlight>
                  <a:srgbClr val="C0C0C0"/>
                </a:highlight>
                <a:latin typeface="Courier" pitchFamily="2" charset="0"/>
              </a:rPr>
              <a:t>hard_negative_mining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  <a:r>
              <a:rPr lang="zh-CN" altLang="en-US" sz="1867" i="1" dirty="0">
                <a:latin typeface="Courier" pitchFamily="2" charset="0"/>
              </a:rPr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i="1" dirty="0" err="1">
                <a:highlight>
                  <a:srgbClr val="C0C0C0"/>
                </a:highlight>
                <a:latin typeface="Courier" pitchFamily="2" charset="0"/>
              </a:rPr>
              <a:t>bbox_loss.py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.</a:t>
            </a:r>
            <a:endParaRPr lang="en-CA" altLang="zh-CN" sz="1867" i="1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endParaRPr lang="en-US" altLang="zh-CN" sz="1334" dirty="0"/>
          </a:p>
          <a:p>
            <a:pPr lvl="1"/>
            <a:r>
              <a:rPr lang="en-US" altLang="zh-CN" sz="2000" dirty="0"/>
              <a:t>Loss</a:t>
            </a:r>
            <a:r>
              <a:rPr lang="zh-CN" altLang="en-US" sz="2000" dirty="0"/>
              <a:t> </a:t>
            </a:r>
            <a:r>
              <a:rPr lang="en-US" altLang="zh-CN" sz="2000" dirty="0"/>
              <a:t>Function</a:t>
            </a:r>
            <a:endParaRPr lang="en-CA" altLang="zh-CN" sz="1867" dirty="0"/>
          </a:p>
          <a:p>
            <a:pPr marL="609585" lvl="1" indent="0">
              <a:buNone/>
            </a:pPr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endParaRPr lang="en-CA" sz="1867" dirty="0"/>
          </a:p>
          <a:p>
            <a:pPr lvl="1"/>
            <a:r>
              <a:rPr lang="zh-CN" altLang="en-US" sz="1867" dirty="0"/>
              <a:t>        </a:t>
            </a:r>
            <a:r>
              <a:rPr lang="en-US" altLang="zh-CN" sz="1867" dirty="0"/>
              <a:t>:</a:t>
            </a:r>
            <a:r>
              <a:rPr lang="zh-CN" altLang="en-US" sz="1867" dirty="0"/>
              <a:t> </a:t>
            </a:r>
            <a:r>
              <a:rPr lang="en-US" altLang="zh-CN" sz="1867" dirty="0"/>
              <a:t>Entropy</a:t>
            </a:r>
            <a:r>
              <a:rPr lang="zh-CN" altLang="en-US" sz="1867" dirty="0"/>
              <a:t> </a:t>
            </a:r>
            <a:r>
              <a:rPr lang="en-US" altLang="zh-CN" sz="1867" dirty="0"/>
              <a:t>loss</a:t>
            </a:r>
            <a:r>
              <a:rPr lang="zh-CN" altLang="en-US" sz="1867" dirty="0"/>
              <a:t> </a:t>
            </a:r>
            <a:r>
              <a:rPr lang="en-US" altLang="zh-CN" sz="1867" dirty="0"/>
              <a:t>of</a:t>
            </a:r>
            <a:r>
              <a:rPr lang="zh-CN" altLang="en-US" sz="1867" dirty="0"/>
              <a:t> </a:t>
            </a:r>
            <a:r>
              <a:rPr lang="en-US" altLang="zh-CN" sz="1867" dirty="0"/>
              <a:t>multi-label</a:t>
            </a:r>
            <a:r>
              <a:rPr lang="zh-CN" altLang="en-US" sz="1867" dirty="0"/>
              <a:t> </a:t>
            </a:r>
            <a:r>
              <a:rPr lang="en-US" altLang="zh-CN" sz="1867" dirty="0"/>
              <a:t>classification.</a:t>
            </a:r>
            <a:r>
              <a:rPr lang="zh-CN" altLang="en-US" sz="1867" dirty="0"/>
              <a:t> </a:t>
            </a:r>
            <a:r>
              <a:rPr lang="en-US" altLang="zh-CN" sz="1867" dirty="0"/>
              <a:t>Note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 err="1"/>
              <a:t>idx</a:t>
            </a:r>
            <a:r>
              <a:rPr lang="en-US" altLang="zh-CN" sz="1867" dirty="0"/>
              <a:t>=0</a:t>
            </a:r>
            <a:r>
              <a:rPr lang="zh-CN" altLang="en-US" sz="1867" dirty="0"/>
              <a:t> </a:t>
            </a:r>
            <a:r>
              <a:rPr lang="en-US" altLang="zh-CN" sz="1867" dirty="0"/>
              <a:t>is</a:t>
            </a:r>
            <a:r>
              <a:rPr lang="zh-CN" altLang="en-US" sz="1867" dirty="0"/>
              <a:t> </a:t>
            </a:r>
            <a:r>
              <a:rPr lang="en-US" altLang="zh-CN" sz="1867" dirty="0"/>
              <a:t>background</a:t>
            </a:r>
            <a:r>
              <a:rPr lang="zh-CN" altLang="en-US" sz="1867" dirty="0"/>
              <a:t> </a:t>
            </a:r>
            <a:r>
              <a:rPr lang="en-US" altLang="zh-CN" sz="1867" dirty="0"/>
              <a:t>(negative</a:t>
            </a:r>
            <a:r>
              <a:rPr lang="zh-CN" altLang="en-US" sz="1867" dirty="0"/>
              <a:t> </a:t>
            </a:r>
            <a:r>
              <a:rPr lang="en-US" altLang="zh-CN" sz="1867" dirty="0"/>
              <a:t>label).</a:t>
            </a:r>
            <a:endParaRPr lang="en-CA" altLang="zh-CN" sz="1867" i="1" dirty="0">
              <a:highlight>
                <a:srgbClr val="C0C0C0"/>
              </a:highlight>
              <a:latin typeface="Courier" pitchFamily="2" charset="0"/>
            </a:endParaRPr>
          </a:p>
          <a:p>
            <a:pPr lvl="1"/>
            <a:r>
              <a:rPr lang="zh-CN" altLang="en-US" sz="1867" dirty="0"/>
              <a:t>        </a:t>
            </a:r>
            <a:r>
              <a:rPr lang="en-US" altLang="zh-CN" sz="1867" dirty="0"/>
              <a:t>:</a:t>
            </a:r>
            <a:r>
              <a:rPr lang="zh-CN" altLang="en-US" sz="1867" dirty="0"/>
              <a:t> </a:t>
            </a:r>
            <a:r>
              <a:rPr lang="en-US" altLang="zh-CN" sz="1867" dirty="0"/>
              <a:t>regression</a:t>
            </a:r>
            <a:r>
              <a:rPr lang="zh-CN" altLang="en-US" sz="1867" dirty="0"/>
              <a:t> </a:t>
            </a:r>
            <a:r>
              <a:rPr lang="en-US" altLang="zh-CN" sz="1867" dirty="0"/>
              <a:t>loss</a:t>
            </a:r>
            <a:r>
              <a:rPr lang="zh-CN" altLang="en-US" sz="1867" dirty="0"/>
              <a:t> </a:t>
            </a:r>
            <a:r>
              <a:rPr lang="en-US" altLang="zh-CN" sz="1867" dirty="0"/>
              <a:t>of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offset,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conversion</a:t>
            </a:r>
            <a:r>
              <a:rPr lang="zh-CN" altLang="en-US" sz="1867" dirty="0"/>
              <a:t> </a:t>
            </a:r>
            <a:r>
              <a:rPr lang="en-US" altLang="zh-CN" sz="1867" dirty="0"/>
              <a:t>(equation</a:t>
            </a:r>
            <a:r>
              <a:rPr lang="zh-CN" altLang="en-US" sz="1867" dirty="0"/>
              <a:t> </a:t>
            </a:r>
            <a:r>
              <a:rPr lang="en-US" altLang="zh-CN" sz="1867" dirty="0"/>
              <a:t>2.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dirty="0"/>
              <a:t>SSD</a:t>
            </a:r>
            <a:r>
              <a:rPr lang="zh-CN" altLang="en-US" sz="1867" dirty="0"/>
              <a:t> </a:t>
            </a:r>
            <a:r>
              <a:rPr lang="en-US" altLang="zh-CN" sz="1867" dirty="0"/>
              <a:t>paper)</a:t>
            </a:r>
            <a:r>
              <a:rPr lang="zh-CN" altLang="en-US" sz="1867" dirty="0"/>
              <a:t> </a:t>
            </a:r>
            <a:r>
              <a:rPr lang="en-US" altLang="zh-CN" sz="1867" dirty="0"/>
              <a:t>of</a:t>
            </a:r>
            <a:r>
              <a:rPr lang="zh-CN" altLang="en-US" sz="1867" dirty="0"/>
              <a:t> </a:t>
            </a:r>
            <a:r>
              <a:rPr lang="en-US" altLang="zh-CN" sz="1867" dirty="0"/>
              <a:t>predict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and</a:t>
            </a:r>
            <a:r>
              <a:rPr lang="zh-CN" altLang="en-US" sz="1867" dirty="0"/>
              <a:t> </a:t>
            </a:r>
            <a:r>
              <a:rPr lang="en-US" altLang="zh-CN" sz="1867" dirty="0"/>
              <a:t>ground-truth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are</a:t>
            </a:r>
            <a:r>
              <a:rPr lang="zh-CN" altLang="en-US" sz="1867" dirty="0"/>
              <a:t> </a:t>
            </a:r>
            <a:r>
              <a:rPr lang="en-US" altLang="zh-CN" sz="1867" dirty="0"/>
              <a:t>implemented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CA" altLang="zh-CN" sz="1867" i="1" dirty="0">
                <a:highlight>
                  <a:srgbClr val="C0C0C0"/>
                </a:highlight>
                <a:latin typeface="Courier" pitchFamily="2" charset="0"/>
              </a:rPr>
              <a:t>pred2real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  <a:r>
              <a:rPr lang="zh-CN" altLang="en-US" sz="1867" dirty="0"/>
              <a:t> </a:t>
            </a:r>
            <a:r>
              <a:rPr lang="en-US" altLang="zh-CN" sz="1867" dirty="0"/>
              <a:t>and</a:t>
            </a:r>
            <a:r>
              <a:rPr lang="zh-CN" altLang="en-US" sz="1867" dirty="0"/>
              <a:t> </a:t>
            </a:r>
            <a:r>
              <a:rPr lang="en-US" altLang="zh-CN" sz="1867" dirty="0"/>
              <a:t>its</a:t>
            </a:r>
            <a:r>
              <a:rPr lang="zh-CN" altLang="en-US" sz="1867" dirty="0"/>
              <a:t> </a:t>
            </a:r>
            <a:r>
              <a:rPr lang="en-US" altLang="zh-CN" sz="1867" dirty="0"/>
              <a:t>inversion</a:t>
            </a:r>
            <a:r>
              <a:rPr lang="zh-CN" altLang="en-US" sz="1867" dirty="0"/>
              <a:t> </a:t>
            </a:r>
            <a:r>
              <a:rPr lang="en-CA" sz="1867" i="1" dirty="0">
                <a:highlight>
                  <a:srgbClr val="C0C0C0"/>
                </a:highlight>
                <a:latin typeface="Courier" pitchFamily="2" charset="0"/>
              </a:rPr>
              <a:t>real2pred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i="1" dirty="0" err="1">
                <a:highlight>
                  <a:srgbClr val="C0C0C0"/>
                </a:highlight>
                <a:latin typeface="Courier" pitchFamily="2" charset="0"/>
              </a:rPr>
              <a:t>bbox_helper.py</a:t>
            </a:r>
            <a:endParaRPr lang="en-CA" altLang="zh-CN" sz="1867" dirty="0"/>
          </a:p>
          <a:p>
            <a:pPr lvl="1"/>
            <a:endParaRPr lang="en-US" altLang="zh-CN" sz="1867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E92E21-7D09-D347-83CE-AC5BB670C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093" y="3777855"/>
            <a:ext cx="6040068" cy="893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D8357D-7063-9842-916B-AF4EB3D46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177" y="5706624"/>
            <a:ext cx="422035" cy="386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CA340E-2F41-4146-9805-DCDA56644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8177" y="5145154"/>
            <a:ext cx="510391" cy="27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962231-5887-C34B-9ABC-DA9217345111}"/>
              </a:ext>
            </a:extLst>
          </p:cNvPr>
          <p:cNvSpPr txBox="1"/>
          <p:nvPr/>
        </p:nvSpPr>
        <p:spPr>
          <a:xfrm>
            <a:off x="7595493" y="4486236"/>
            <a:ext cx="1478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alpha</a:t>
            </a:r>
            <a:r>
              <a:rPr lang="zh-CN" altLang="en-US" i="1" dirty="0"/>
              <a:t> </a:t>
            </a:r>
            <a:r>
              <a:rPr lang="en-US" altLang="zh-CN" i="1" dirty="0"/>
              <a:t>set</a:t>
            </a:r>
            <a:r>
              <a:rPr lang="zh-CN" altLang="en-US" i="1" dirty="0"/>
              <a:t> </a:t>
            </a:r>
            <a:r>
              <a:rPr lang="en-US" altLang="zh-CN" i="1" dirty="0"/>
              <a:t>to</a:t>
            </a:r>
            <a:r>
              <a:rPr lang="zh-CN" altLang="en-US" i="1" dirty="0"/>
              <a:t> </a:t>
            </a:r>
            <a:r>
              <a:rPr lang="en-US" altLang="zh-CN" i="1" dirty="0"/>
              <a:t>1</a:t>
            </a:r>
            <a:endParaRPr lang="en-US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7C4AA1-6B58-8B41-88F0-BAAE1D8A1F26}"/>
              </a:ext>
            </a:extLst>
          </p:cNvPr>
          <p:cNvCxnSpPr/>
          <p:nvPr/>
        </p:nvCxnSpPr>
        <p:spPr>
          <a:xfrm flipH="1" flipV="1">
            <a:off x="7252570" y="4392486"/>
            <a:ext cx="325677" cy="27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65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Testing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88" y="2056310"/>
            <a:ext cx="10363200" cy="4672352"/>
          </a:xfrm>
        </p:spPr>
        <p:txBody>
          <a:bodyPr/>
          <a:lstStyle/>
          <a:p>
            <a:r>
              <a:rPr lang="en-US" altLang="zh-CN" sz="2400" dirty="0"/>
              <a:t>1</a:t>
            </a:r>
            <a:r>
              <a:rPr lang="en-US" sz="2400" dirty="0"/>
              <a:t>. </a:t>
            </a:r>
            <a:r>
              <a:rPr lang="en-US" altLang="zh-CN" sz="2400" dirty="0"/>
              <a:t>Normalize the</a:t>
            </a:r>
            <a:r>
              <a:rPr lang="zh-CN" altLang="en-US" sz="2400" dirty="0"/>
              <a:t> </a:t>
            </a:r>
            <a:r>
              <a:rPr lang="en-US" altLang="zh-CN" sz="2400" dirty="0"/>
              <a:t>classification output with </a:t>
            </a:r>
            <a:r>
              <a:rPr lang="en-US" altLang="zh-CN" sz="1867" i="1" dirty="0" err="1">
                <a:highlight>
                  <a:srgbClr val="C0C0C0"/>
                </a:highlight>
                <a:latin typeface="Courier" pitchFamily="2" charset="0"/>
              </a:rPr>
              <a:t>F.softmax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()</a:t>
            </a:r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 </a:t>
            </a:r>
            <a:r>
              <a:rPr lang="en-US" altLang="zh-CN" sz="2400" dirty="0"/>
              <a:t>Implement</a:t>
            </a:r>
            <a:r>
              <a:rPr lang="zh-CN" altLang="en-US" sz="2400" dirty="0"/>
              <a:t> </a:t>
            </a:r>
            <a:r>
              <a:rPr lang="en-US" altLang="zh-CN" sz="2400" b="1" dirty="0"/>
              <a:t>NMS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(Non-Maximum Suppression)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filtering</a:t>
            </a:r>
            <a:r>
              <a:rPr lang="zh-CN" altLang="en-US" sz="2400" dirty="0"/>
              <a:t> </a:t>
            </a:r>
            <a:r>
              <a:rPr lang="en-US" altLang="zh-CN" sz="2400" dirty="0"/>
              <a:t>out</a:t>
            </a:r>
            <a:r>
              <a:rPr lang="zh-CN" altLang="en-US" sz="2400" dirty="0"/>
              <a:t> </a:t>
            </a:r>
            <a:r>
              <a:rPr lang="en-US" altLang="zh-CN" sz="2400" dirty="0"/>
              <a:t>unnecessary</a:t>
            </a:r>
            <a:r>
              <a:rPr lang="zh-CN" altLang="en-US" sz="2400" dirty="0"/>
              <a:t> </a:t>
            </a:r>
            <a:r>
              <a:rPr lang="en-US" altLang="zh-CN" sz="2400" dirty="0"/>
              <a:t>bounding</a:t>
            </a:r>
            <a:r>
              <a:rPr lang="zh-CN" altLang="en-US" sz="2400" dirty="0"/>
              <a:t> </a:t>
            </a:r>
            <a:r>
              <a:rPr lang="en-US" altLang="zh-CN" sz="2400" dirty="0"/>
              <a:t>boxes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compute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best</a:t>
            </a:r>
            <a:r>
              <a:rPr lang="zh-CN" altLang="en-US" sz="2400" dirty="0"/>
              <a:t> </a:t>
            </a:r>
            <a:r>
              <a:rPr lang="en-US" altLang="zh-CN" sz="2400" dirty="0"/>
              <a:t>overlap</a:t>
            </a:r>
            <a:r>
              <a:rPr lang="zh-CN" altLang="en-US" sz="2400" dirty="0"/>
              <a:t> </a:t>
            </a:r>
            <a:r>
              <a:rPr lang="en-US" altLang="zh-CN" sz="2400" dirty="0"/>
              <a:t>bounding</a:t>
            </a:r>
            <a:r>
              <a:rPr lang="zh-CN" altLang="en-US" sz="2400" dirty="0"/>
              <a:t> </a:t>
            </a:r>
            <a:r>
              <a:rPr lang="en-US" altLang="zh-CN" sz="2400" dirty="0"/>
              <a:t>box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each</a:t>
            </a:r>
            <a:r>
              <a:rPr lang="zh-CN" altLang="en-US" sz="2400" dirty="0"/>
              <a:t> </a:t>
            </a:r>
            <a:r>
              <a:rPr lang="en-US" altLang="zh-CN" sz="2400" dirty="0"/>
              <a:t>object.</a:t>
            </a:r>
          </a:p>
          <a:p>
            <a:pPr lvl="1"/>
            <a:r>
              <a:rPr lang="en-US" altLang="zh-CN" sz="1867" dirty="0"/>
              <a:t>Implement</a:t>
            </a:r>
            <a:r>
              <a:rPr lang="zh-CN" altLang="en-US" sz="1867" dirty="0"/>
              <a:t> </a:t>
            </a:r>
            <a:r>
              <a:rPr lang="en-US" altLang="zh-CN" sz="1867" dirty="0"/>
              <a:t>your</a:t>
            </a:r>
            <a:r>
              <a:rPr lang="zh-CN" altLang="en-US" sz="1867" dirty="0"/>
              <a:t> </a:t>
            </a:r>
            <a:r>
              <a:rPr lang="en-US" altLang="zh-CN" sz="1867" dirty="0"/>
              <a:t>code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</a:t>
            </a:r>
            <a:r>
              <a:rPr lang="en-US" altLang="zh-CN" sz="1867" i="1" dirty="0">
                <a:highlight>
                  <a:srgbClr val="C0C0C0"/>
                </a:highlight>
                <a:latin typeface="Courier" pitchFamily="2" charset="0"/>
              </a:rPr>
              <a:t>NMS()</a:t>
            </a:r>
            <a:r>
              <a:rPr lang="zh-CN" altLang="en-US" sz="1867" dirty="0"/>
              <a:t> </a:t>
            </a:r>
            <a:r>
              <a:rPr lang="en-US" altLang="zh-CN" sz="1867" dirty="0"/>
              <a:t>in</a:t>
            </a:r>
            <a:r>
              <a:rPr lang="zh-CN" altLang="en-US" sz="1867" dirty="0"/>
              <a:t>  </a:t>
            </a:r>
            <a:r>
              <a:rPr lang="en-US" altLang="zh-CN" sz="1867" i="1" dirty="0" err="1">
                <a:highlight>
                  <a:srgbClr val="C0C0C0"/>
                </a:highlight>
                <a:latin typeface="Courier" pitchFamily="2" charset="0"/>
              </a:rPr>
              <a:t>bbox_helper.py</a:t>
            </a:r>
            <a:endParaRPr lang="en-CA" altLang="zh-CN" sz="1867" dirty="0"/>
          </a:p>
          <a:p>
            <a:pPr lvl="1"/>
            <a:r>
              <a:rPr lang="en-US" altLang="zh-CN" sz="1867" dirty="0"/>
              <a:t>Tip:</a:t>
            </a:r>
            <a:r>
              <a:rPr lang="zh-CN" altLang="en-US" sz="1867" dirty="0"/>
              <a:t> </a:t>
            </a:r>
            <a:r>
              <a:rPr lang="en-US" altLang="zh-CN" sz="1867" dirty="0"/>
              <a:t>You</a:t>
            </a:r>
            <a:r>
              <a:rPr lang="zh-CN" altLang="en-US" sz="1867" dirty="0"/>
              <a:t> </a:t>
            </a:r>
            <a:r>
              <a:rPr lang="en-US" altLang="zh-CN" sz="1867" dirty="0"/>
              <a:t>can</a:t>
            </a:r>
            <a:r>
              <a:rPr lang="zh-CN" altLang="en-US" sz="1867" dirty="0"/>
              <a:t> </a:t>
            </a:r>
            <a:r>
              <a:rPr lang="en-US" altLang="zh-CN" sz="1867" dirty="0"/>
              <a:t>first</a:t>
            </a:r>
            <a:r>
              <a:rPr lang="zh-CN" altLang="en-US" sz="1867" dirty="0"/>
              <a:t> </a:t>
            </a:r>
            <a:r>
              <a:rPr lang="en-US" altLang="zh-CN" sz="1867" dirty="0"/>
              <a:t>filtering</a:t>
            </a:r>
            <a:r>
              <a:rPr lang="zh-CN" altLang="en-US" sz="1867" dirty="0"/>
              <a:t> </a:t>
            </a:r>
            <a:r>
              <a:rPr lang="en-US" altLang="zh-CN" sz="1867" dirty="0"/>
              <a:t>out</a:t>
            </a:r>
            <a:r>
              <a:rPr lang="zh-CN" altLang="en-US" sz="1867" dirty="0"/>
              <a:t> </a:t>
            </a:r>
            <a:r>
              <a:rPr lang="en-US" altLang="zh-CN" sz="1867" dirty="0"/>
              <a:t>some</a:t>
            </a:r>
            <a:r>
              <a:rPr lang="zh-CN" altLang="en-US" sz="1867" dirty="0"/>
              <a:t> </a:t>
            </a:r>
            <a:r>
              <a:rPr lang="en-US" altLang="zh-CN" sz="1867" dirty="0"/>
              <a:t>samples</a:t>
            </a:r>
            <a:r>
              <a:rPr lang="zh-CN" altLang="en-US" sz="1867" dirty="0"/>
              <a:t> </a:t>
            </a:r>
            <a:r>
              <a:rPr lang="en-US" altLang="zh-CN" sz="1867" dirty="0"/>
              <a:t>that</a:t>
            </a:r>
            <a:r>
              <a:rPr lang="zh-CN" altLang="en-US" sz="1867" dirty="0"/>
              <a:t> </a:t>
            </a:r>
            <a:r>
              <a:rPr lang="en-US" altLang="zh-CN" sz="1867" dirty="0"/>
              <a:t>has</a:t>
            </a:r>
            <a:r>
              <a:rPr lang="zh-CN" altLang="en-US" sz="1867" dirty="0"/>
              <a:t> </a:t>
            </a:r>
            <a:r>
              <a:rPr lang="en-US" altLang="zh-CN" sz="1867" dirty="0"/>
              <a:t>low</a:t>
            </a:r>
            <a:r>
              <a:rPr lang="zh-CN" altLang="en-US" sz="1867" dirty="0"/>
              <a:t> </a:t>
            </a:r>
            <a:r>
              <a:rPr lang="en-US" altLang="zh-CN" sz="1867" dirty="0"/>
              <a:t>probability</a:t>
            </a:r>
            <a:r>
              <a:rPr lang="zh-CN" altLang="en-US" sz="1867" dirty="0"/>
              <a:t> </a:t>
            </a:r>
            <a:r>
              <a:rPr lang="en-US" altLang="zh-CN" sz="1867" dirty="0"/>
              <a:t>and</a:t>
            </a:r>
            <a:r>
              <a:rPr lang="zh-CN" altLang="en-US" sz="1867" dirty="0"/>
              <a:t> </a:t>
            </a:r>
            <a:r>
              <a:rPr lang="en-US" altLang="zh-CN" sz="1867" dirty="0"/>
              <a:t>retain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high</a:t>
            </a:r>
            <a:r>
              <a:rPr lang="zh-CN" altLang="en-US" sz="1867" dirty="0"/>
              <a:t> </a:t>
            </a:r>
            <a:r>
              <a:rPr lang="en-US" altLang="zh-CN" sz="1867" dirty="0"/>
              <a:t>probability</a:t>
            </a:r>
            <a:r>
              <a:rPr lang="zh-CN" altLang="en-US" sz="1867" dirty="0"/>
              <a:t> </a:t>
            </a:r>
            <a:r>
              <a:rPr lang="en-US" altLang="zh-CN" sz="1867" dirty="0"/>
              <a:t>bounding</a:t>
            </a:r>
            <a:r>
              <a:rPr lang="zh-CN" altLang="en-US" sz="1867" dirty="0"/>
              <a:t> </a:t>
            </a:r>
            <a:r>
              <a:rPr lang="en-US" altLang="zh-CN" sz="1867" dirty="0"/>
              <a:t>box</a:t>
            </a:r>
            <a:r>
              <a:rPr lang="zh-CN" altLang="en-US" sz="1867" dirty="0"/>
              <a:t> </a:t>
            </a:r>
            <a:r>
              <a:rPr lang="en-US" altLang="zh-CN" sz="1867" dirty="0"/>
              <a:t>prediction,</a:t>
            </a:r>
            <a:r>
              <a:rPr lang="zh-CN" altLang="en-US" sz="1867" dirty="0"/>
              <a:t> </a:t>
            </a:r>
            <a:r>
              <a:rPr lang="en-US" altLang="zh-CN" sz="1867" dirty="0"/>
              <a:t>then</a:t>
            </a:r>
            <a:r>
              <a:rPr lang="zh-CN" altLang="en-US" sz="1867" dirty="0"/>
              <a:t> </a:t>
            </a:r>
            <a:r>
              <a:rPr lang="en-US" altLang="zh-CN" sz="1867" dirty="0"/>
              <a:t>do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NMS()</a:t>
            </a:r>
            <a:r>
              <a:rPr lang="zh-CN" altLang="en-US" sz="1867" dirty="0"/>
              <a:t> </a:t>
            </a:r>
            <a:r>
              <a:rPr lang="en-US" altLang="zh-CN" sz="1867" dirty="0"/>
              <a:t>to</a:t>
            </a:r>
            <a:r>
              <a:rPr lang="zh-CN" altLang="en-US" sz="1867" dirty="0"/>
              <a:t> </a:t>
            </a:r>
            <a:r>
              <a:rPr lang="en-US" altLang="zh-CN" sz="1867" dirty="0"/>
              <a:t>accelerate</a:t>
            </a:r>
            <a:r>
              <a:rPr lang="zh-CN" altLang="en-US" sz="1867" dirty="0"/>
              <a:t> </a:t>
            </a:r>
            <a:r>
              <a:rPr lang="en-US" altLang="zh-CN" sz="1867" dirty="0"/>
              <a:t>the</a:t>
            </a:r>
            <a:r>
              <a:rPr lang="zh-CN" altLang="en-US" sz="1867" dirty="0"/>
              <a:t> </a:t>
            </a:r>
            <a:r>
              <a:rPr lang="en-US" altLang="zh-CN" sz="1867" dirty="0"/>
              <a:t>computation.</a:t>
            </a:r>
          </a:p>
        </p:txBody>
      </p:sp>
    </p:spTree>
    <p:extLst>
      <p:ext uri="{BB962C8B-B14F-4D97-AF65-F5344CB8AC3E}">
        <p14:creationId xmlns:p14="http://schemas.microsoft.com/office/powerpoint/2010/main" val="157808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/>
              <a:t>Summary: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Skeleton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Code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Structure</a:t>
            </a:r>
            <a:endParaRPr 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88" y="2056310"/>
            <a:ext cx="10363200" cy="4672352"/>
          </a:xfrm>
        </p:spPr>
        <p:txBody>
          <a:bodyPr/>
          <a:lstStyle/>
          <a:p>
            <a:r>
              <a:rPr lang="en-US" altLang="zh-CN" sz="1800" dirty="0" err="1">
                <a:latin typeface="Courier" pitchFamily="2" charset="0"/>
              </a:rPr>
              <a:t>bbox_helper.py</a:t>
            </a:r>
            <a:endParaRPr lang="en-US" altLang="zh-CN" sz="1800" dirty="0">
              <a:latin typeface="Courier" pitchFamily="2" charset="0"/>
            </a:endParaRPr>
          </a:p>
          <a:p>
            <a:pPr lvl="1"/>
            <a:r>
              <a:rPr lang="en-US" altLang="zh-CN" sz="1334" b="1" dirty="0"/>
              <a:t>prior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bounding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box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(default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box)</a:t>
            </a:r>
            <a:r>
              <a:rPr lang="zh-CN" altLang="en-US" sz="1334" b="1" dirty="0"/>
              <a:t> </a:t>
            </a:r>
            <a:r>
              <a:rPr lang="en-US" altLang="zh-CN" sz="1334" dirty="0"/>
              <a:t>generating,</a:t>
            </a:r>
            <a:r>
              <a:rPr lang="zh-CN" altLang="en-US" sz="1334" dirty="0"/>
              <a:t> </a:t>
            </a:r>
            <a:endParaRPr lang="en-CA" altLang="zh-CN" sz="1334" dirty="0"/>
          </a:p>
          <a:p>
            <a:pPr lvl="1"/>
            <a:r>
              <a:rPr lang="en-US" altLang="zh-CN" sz="1334" b="1" dirty="0"/>
              <a:t>matching</a:t>
            </a:r>
            <a:r>
              <a:rPr lang="zh-CN" altLang="en-US" sz="1334" dirty="0"/>
              <a:t> </a:t>
            </a:r>
            <a:r>
              <a:rPr lang="en-US" altLang="zh-CN" sz="1334" dirty="0"/>
              <a:t>with</a:t>
            </a:r>
            <a:r>
              <a:rPr lang="zh-CN" altLang="en-US" sz="1334" dirty="0"/>
              <a:t> </a:t>
            </a:r>
            <a:r>
              <a:rPr lang="en-US" altLang="zh-CN" sz="1334" dirty="0"/>
              <a:t>ground</a:t>
            </a:r>
            <a:r>
              <a:rPr lang="zh-CN" altLang="en-US" sz="1334" dirty="0"/>
              <a:t> </a:t>
            </a:r>
            <a:r>
              <a:rPr lang="en-US" altLang="zh-CN" sz="1334" dirty="0"/>
              <a:t>truth</a:t>
            </a:r>
            <a:r>
              <a:rPr lang="zh-CN" altLang="en-US" sz="1334" dirty="0"/>
              <a:t> </a:t>
            </a:r>
            <a:r>
              <a:rPr lang="en-US" altLang="zh-CN" sz="1334" dirty="0"/>
              <a:t>box</a:t>
            </a:r>
            <a:r>
              <a:rPr lang="zh-CN" altLang="en-US" sz="1334" dirty="0"/>
              <a:t> </a:t>
            </a:r>
            <a:r>
              <a:rPr lang="en-US" altLang="zh-CN" sz="1334" dirty="0"/>
              <a:t>to</a:t>
            </a:r>
            <a:r>
              <a:rPr lang="zh-CN" altLang="en-US" sz="1334" dirty="0"/>
              <a:t> </a:t>
            </a:r>
            <a:r>
              <a:rPr lang="en-US" altLang="zh-CN" sz="1334" dirty="0"/>
              <a:t>produce</a:t>
            </a:r>
            <a:r>
              <a:rPr lang="zh-CN" altLang="en-US" sz="1334" dirty="0"/>
              <a:t> </a:t>
            </a:r>
            <a:r>
              <a:rPr lang="en-US" altLang="zh-CN" sz="1334" dirty="0"/>
              <a:t>training</a:t>
            </a:r>
            <a:r>
              <a:rPr lang="zh-CN" altLang="en-US" sz="1334" dirty="0"/>
              <a:t> </a:t>
            </a:r>
            <a:r>
              <a:rPr lang="en-US" altLang="zh-CN" sz="1334" dirty="0"/>
              <a:t>samples</a:t>
            </a:r>
            <a:endParaRPr lang="en-CA" altLang="zh-CN" sz="1334" dirty="0"/>
          </a:p>
          <a:p>
            <a:pPr lvl="1"/>
            <a:r>
              <a:rPr lang="en-US" altLang="zh-CN" sz="1334" b="1" i="1" dirty="0" err="1"/>
              <a:t>nms</a:t>
            </a:r>
            <a:r>
              <a:rPr lang="zh-CN" altLang="en-US" sz="1334" dirty="0"/>
              <a:t> </a:t>
            </a:r>
            <a:r>
              <a:rPr lang="en-US" altLang="zh-CN" sz="1334" dirty="0"/>
              <a:t>for</a:t>
            </a:r>
            <a:r>
              <a:rPr lang="zh-CN" altLang="en-US" sz="1334" dirty="0"/>
              <a:t> </a:t>
            </a:r>
            <a:r>
              <a:rPr lang="en-US" altLang="zh-CN" sz="1334" dirty="0"/>
              <a:t>filtering</a:t>
            </a:r>
            <a:r>
              <a:rPr lang="zh-CN" altLang="en-US" sz="1334" dirty="0"/>
              <a:t> </a:t>
            </a:r>
            <a:r>
              <a:rPr lang="en-US" altLang="zh-CN" sz="1334" dirty="0"/>
              <a:t>out</a:t>
            </a:r>
            <a:r>
              <a:rPr lang="zh-CN" altLang="en-US" sz="1334" dirty="0"/>
              <a:t> </a:t>
            </a:r>
            <a:r>
              <a:rPr lang="en-US" altLang="zh-CN" sz="1334" dirty="0"/>
              <a:t>unnecessary</a:t>
            </a:r>
            <a:r>
              <a:rPr lang="zh-CN" altLang="en-US" sz="1334" dirty="0"/>
              <a:t> </a:t>
            </a:r>
            <a:r>
              <a:rPr lang="en-US" altLang="zh-CN" sz="1334" dirty="0"/>
              <a:t>predicted</a:t>
            </a:r>
            <a:r>
              <a:rPr lang="zh-CN" altLang="en-US" sz="1334" dirty="0"/>
              <a:t> </a:t>
            </a:r>
            <a:r>
              <a:rPr lang="en-US" altLang="zh-CN" sz="1334" dirty="0"/>
              <a:t>bounding</a:t>
            </a:r>
            <a:r>
              <a:rPr lang="zh-CN" altLang="en-US" sz="1334" dirty="0"/>
              <a:t> </a:t>
            </a:r>
            <a:r>
              <a:rPr lang="en-US" altLang="zh-CN" sz="1334" dirty="0"/>
              <a:t>boxes</a:t>
            </a:r>
          </a:p>
          <a:p>
            <a:r>
              <a:rPr lang="en-US" altLang="zh-CN" sz="1800" dirty="0" err="1">
                <a:latin typeface="Courier" pitchFamily="2" charset="0"/>
              </a:rPr>
              <a:t>bbox_loss.py</a:t>
            </a:r>
            <a:endParaRPr lang="en-US" altLang="zh-CN" sz="1800" dirty="0">
              <a:latin typeface="Courier" pitchFamily="2" charset="0"/>
            </a:endParaRPr>
          </a:p>
          <a:p>
            <a:pPr lvl="1"/>
            <a:r>
              <a:rPr lang="en-US" altLang="zh-CN" sz="1334" b="1" dirty="0"/>
              <a:t>Hard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Negative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Mining</a:t>
            </a:r>
            <a:r>
              <a:rPr lang="zh-CN" altLang="en-US" sz="1334" b="1" dirty="0"/>
              <a:t> </a:t>
            </a:r>
            <a:r>
              <a:rPr lang="en-US" altLang="zh-CN" sz="1334" dirty="0"/>
              <a:t>reduce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mount</a:t>
            </a:r>
            <a:r>
              <a:rPr lang="zh-CN" altLang="en-US" sz="1334" dirty="0"/>
              <a:t> </a:t>
            </a:r>
            <a:r>
              <a:rPr lang="en-US" altLang="zh-CN" sz="1334" dirty="0"/>
              <a:t>of</a:t>
            </a:r>
            <a:r>
              <a:rPr lang="zh-CN" altLang="en-US" sz="1334" dirty="0"/>
              <a:t> </a:t>
            </a:r>
            <a:r>
              <a:rPr lang="en-US" altLang="zh-CN" sz="1334" dirty="0"/>
              <a:t>negative</a:t>
            </a:r>
            <a:r>
              <a:rPr lang="zh-CN" altLang="en-US" sz="1334" dirty="0"/>
              <a:t> </a:t>
            </a:r>
            <a:r>
              <a:rPr lang="en-US" altLang="zh-CN" sz="1334" dirty="0"/>
              <a:t>samples</a:t>
            </a:r>
            <a:r>
              <a:rPr lang="zh-CN" altLang="en-US" sz="1334" dirty="0"/>
              <a:t> </a:t>
            </a:r>
            <a:r>
              <a:rPr lang="en-US" altLang="zh-CN" sz="1334" dirty="0"/>
              <a:t>and</a:t>
            </a:r>
            <a:r>
              <a:rPr lang="zh-CN" altLang="en-US" sz="1334" dirty="0"/>
              <a:t> </a:t>
            </a:r>
            <a:r>
              <a:rPr lang="en-US" altLang="zh-CN" sz="1334" dirty="0"/>
              <a:t>balance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positive</a:t>
            </a:r>
            <a:r>
              <a:rPr lang="zh-CN" altLang="en-US" sz="1334" dirty="0"/>
              <a:t> </a:t>
            </a:r>
            <a:r>
              <a:rPr lang="en-US" altLang="zh-CN" sz="1334" dirty="0"/>
              <a:t>and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negative</a:t>
            </a:r>
            <a:r>
              <a:rPr lang="zh-CN" altLang="en-US" sz="1334" dirty="0"/>
              <a:t> </a:t>
            </a:r>
            <a:r>
              <a:rPr lang="en-US" altLang="zh-CN" sz="1334" dirty="0"/>
              <a:t>set.</a:t>
            </a:r>
          </a:p>
          <a:p>
            <a:pPr lvl="1"/>
            <a:r>
              <a:rPr lang="en-US" altLang="zh-CN" sz="1334" b="1" dirty="0" err="1"/>
              <a:t>Multibox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loss</a:t>
            </a:r>
            <a:r>
              <a:rPr lang="zh-CN" altLang="en-US" sz="1334" b="1" dirty="0"/>
              <a:t> </a:t>
            </a:r>
            <a:r>
              <a:rPr lang="en-US" altLang="zh-CN" sz="1334" dirty="0"/>
              <a:t>measures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matched</a:t>
            </a:r>
            <a:r>
              <a:rPr lang="zh-CN" altLang="en-US" sz="1334" dirty="0"/>
              <a:t> </a:t>
            </a:r>
            <a:r>
              <a:rPr lang="en-US" altLang="zh-CN" sz="1334" dirty="0"/>
              <a:t>boxes</a:t>
            </a:r>
            <a:r>
              <a:rPr lang="zh-CN" altLang="en-US" sz="1334" dirty="0"/>
              <a:t> </a:t>
            </a:r>
            <a:r>
              <a:rPr lang="en-US" altLang="zh-CN" sz="1334" dirty="0"/>
              <a:t>and</a:t>
            </a:r>
            <a:r>
              <a:rPr lang="zh-CN" altLang="en-US" sz="1334" dirty="0"/>
              <a:t> </a:t>
            </a:r>
            <a:r>
              <a:rPr lang="en-US" altLang="zh-CN" sz="1334" dirty="0"/>
              <a:t>labels</a:t>
            </a:r>
            <a:r>
              <a:rPr lang="zh-CN" altLang="en-US" sz="1334" dirty="0"/>
              <a:t> </a:t>
            </a:r>
            <a:r>
              <a:rPr lang="en-US" altLang="zh-CN" sz="1334" dirty="0"/>
              <a:t>with</a:t>
            </a:r>
            <a:r>
              <a:rPr lang="zh-CN" altLang="en-US" sz="1334" dirty="0"/>
              <a:t> </a:t>
            </a:r>
            <a:r>
              <a:rPr lang="en-US" altLang="zh-CN" sz="1334" dirty="0"/>
              <a:t>predicted</a:t>
            </a:r>
            <a:r>
              <a:rPr lang="zh-CN" altLang="en-US" sz="1334" dirty="0"/>
              <a:t> </a:t>
            </a:r>
            <a:r>
              <a:rPr lang="en-US" altLang="zh-CN" sz="1334" dirty="0"/>
              <a:t>ones.</a:t>
            </a:r>
          </a:p>
          <a:p>
            <a:r>
              <a:rPr lang="en-US" altLang="zh-CN" sz="1800" dirty="0" err="1">
                <a:latin typeface="Courier" pitchFamily="2" charset="0"/>
              </a:rPr>
              <a:t>cityscape_dataset.py</a:t>
            </a:r>
            <a:endParaRPr lang="en-US" altLang="zh-CN" sz="1800" dirty="0">
              <a:latin typeface="Courier" pitchFamily="2" charset="0"/>
            </a:endParaRPr>
          </a:p>
          <a:p>
            <a:pPr lvl="1"/>
            <a:r>
              <a:rPr lang="en-US" altLang="zh-CN" sz="1334" dirty="0" err="1"/>
              <a:t>Init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Prior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bounding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box</a:t>
            </a:r>
            <a:r>
              <a:rPr lang="zh-CN" altLang="en-US" sz="1334" b="1" dirty="0"/>
              <a:t> </a:t>
            </a:r>
            <a:r>
              <a:rPr lang="en-US" altLang="zh-CN" sz="1334" dirty="0"/>
              <a:t>when</a:t>
            </a:r>
            <a:r>
              <a:rPr lang="zh-CN" altLang="en-US" sz="1334" dirty="0"/>
              <a:t> </a:t>
            </a:r>
            <a:r>
              <a:rPr lang="en-US" altLang="zh-CN" sz="1334" dirty="0"/>
              <a:t>start</a:t>
            </a:r>
          </a:p>
          <a:p>
            <a:pPr lvl="1"/>
            <a:r>
              <a:rPr lang="en-US" altLang="zh-CN" sz="1334" dirty="0"/>
              <a:t>When</a:t>
            </a:r>
            <a:r>
              <a:rPr lang="zh-CN" altLang="en-US" sz="1334" dirty="0"/>
              <a:t> </a:t>
            </a:r>
            <a:r>
              <a:rPr lang="en-US" altLang="zh-CN" sz="1334" dirty="0"/>
              <a:t>feeding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training</a:t>
            </a:r>
            <a:r>
              <a:rPr lang="zh-CN" altLang="en-US" sz="1334" dirty="0"/>
              <a:t> </a:t>
            </a:r>
            <a:r>
              <a:rPr lang="en-US" altLang="zh-CN" sz="1334" dirty="0"/>
              <a:t>samples,</a:t>
            </a:r>
            <a:r>
              <a:rPr lang="zh-CN" altLang="en-US" sz="1334" dirty="0"/>
              <a:t> </a:t>
            </a:r>
            <a:r>
              <a:rPr lang="en-US" altLang="zh-CN" sz="1334" b="1" dirty="0"/>
              <a:t>match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the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ground-truth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box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with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prior</a:t>
            </a:r>
            <a:r>
              <a:rPr lang="zh-CN" altLang="en-US" sz="1334" b="1" dirty="0"/>
              <a:t> </a:t>
            </a:r>
            <a:r>
              <a:rPr lang="en-US" altLang="zh-CN" sz="1334" b="1" dirty="0"/>
              <a:t>boxes</a:t>
            </a:r>
            <a:r>
              <a:rPr lang="zh-CN" altLang="en-US" sz="1334" b="1" dirty="0"/>
              <a:t> </a:t>
            </a:r>
            <a:r>
              <a:rPr lang="en-US" altLang="zh-CN" sz="1334" dirty="0"/>
              <a:t>and</a:t>
            </a:r>
            <a:r>
              <a:rPr lang="zh-CN" altLang="en-US" sz="1334" dirty="0"/>
              <a:t> </a:t>
            </a:r>
            <a:r>
              <a:rPr lang="en-US" altLang="zh-CN" sz="1334" dirty="0"/>
              <a:t>produce</a:t>
            </a:r>
            <a:r>
              <a:rPr lang="zh-CN" altLang="en-US" sz="1334" dirty="0"/>
              <a:t> </a:t>
            </a:r>
            <a:r>
              <a:rPr lang="en-US" altLang="zh-CN" sz="1334" dirty="0"/>
              <a:t>the</a:t>
            </a:r>
            <a:r>
              <a:rPr lang="zh-CN" altLang="en-US" sz="1334" dirty="0"/>
              <a:t> </a:t>
            </a:r>
            <a:r>
              <a:rPr lang="en-US" altLang="zh-CN" sz="1334" dirty="0"/>
              <a:t>matched</a:t>
            </a:r>
            <a:r>
              <a:rPr lang="zh-CN" altLang="en-US" sz="1334" dirty="0"/>
              <a:t> </a:t>
            </a:r>
            <a:r>
              <a:rPr lang="en-US" altLang="zh-CN" sz="1334" dirty="0"/>
              <a:t>ground-truth</a:t>
            </a:r>
            <a:r>
              <a:rPr lang="zh-CN" altLang="en-US" sz="1334" dirty="0"/>
              <a:t> </a:t>
            </a:r>
            <a:r>
              <a:rPr lang="en-US" altLang="zh-CN" sz="1334" dirty="0"/>
              <a:t>boxes</a:t>
            </a:r>
            <a:r>
              <a:rPr lang="zh-CN" altLang="en-US" sz="1334" dirty="0"/>
              <a:t> </a:t>
            </a:r>
            <a:r>
              <a:rPr lang="en-US" altLang="zh-CN" sz="1334" dirty="0"/>
              <a:t>for</a:t>
            </a:r>
            <a:r>
              <a:rPr lang="zh-CN" altLang="en-US" sz="1334" dirty="0"/>
              <a:t> </a:t>
            </a:r>
            <a:r>
              <a:rPr lang="en-US" altLang="zh-CN" sz="1334" dirty="0"/>
              <a:t>training.</a:t>
            </a:r>
          </a:p>
          <a:p>
            <a:r>
              <a:rPr lang="en-US" altLang="zh-CN" sz="1800" dirty="0" err="1">
                <a:latin typeface="Courier" pitchFamily="2" charset="0"/>
              </a:rPr>
              <a:t>mobilenet.py</a:t>
            </a:r>
            <a:endParaRPr lang="en-US" altLang="zh-CN" sz="1800" dirty="0">
              <a:latin typeface="Courier" pitchFamily="2" charset="0"/>
            </a:endParaRPr>
          </a:p>
          <a:p>
            <a:pPr lvl="1"/>
            <a:r>
              <a:rPr lang="en-US" altLang="zh-CN" sz="1334" dirty="0" err="1"/>
              <a:t>basenet</a:t>
            </a:r>
            <a:r>
              <a:rPr lang="zh-CN" altLang="en-US" sz="1334" dirty="0"/>
              <a:t> </a:t>
            </a:r>
            <a:r>
              <a:rPr lang="en-US" altLang="zh-CN" sz="1334" dirty="0"/>
              <a:t>for</a:t>
            </a:r>
            <a:r>
              <a:rPr lang="zh-CN" altLang="en-US" sz="1334" dirty="0"/>
              <a:t> </a:t>
            </a:r>
            <a:r>
              <a:rPr lang="en-US" altLang="zh-CN" sz="1334" dirty="0"/>
              <a:t>feature</a:t>
            </a:r>
            <a:r>
              <a:rPr lang="zh-CN" altLang="en-US" sz="1334" dirty="0"/>
              <a:t> </a:t>
            </a:r>
            <a:r>
              <a:rPr lang="en-US" altLang="zh-CN" sz="1334" dirty="0"/>
              <a:t>extraction</a:t>
            </a:r>
          </a:p>
          <a:p>
            <a:r>
              <a:rPr lang="en-US" altLang="zh-CN" sz="1800" dirty="0" err="1">
                <a:latin typeface="Courier" pitchFamily="2" charset="0"/>
              </a:rPr>
              <a:t>ssd_net.py</a:t>
            </a:r>
            <a:endParaRPr lang="en-US" altLang="zh-CN" sz="1800" dirty="0">
              <a:latin typeface="Courier" pitchFamily="2" charset="0"/>
            </a:endParaRPr>
          </a:p>
          <a:p>
            <a:pPr lvl="1"/>
            <a:r>
              <a:rPr lang="en-US" altLang="zh-CN" sz="1334" dirty="0"/>
              <a:t>forward</a:t>
            </a:r>
            <a:r>
              <a:rPr lang="zh-CN" altLang="en-US" sz="1334" dirty="0"/>
              <a:t> </a:t>
            </a:r>
            <a:r>
              <a:rPr lang="en-US" altLang="zh-CN" sz="1334" dirty="0"/>
              <a:t>process,</a:t>
            </a:r>
            <a:r>
              <a:rPr lang="zh-CN" altLang="en-US" sz="1334" dirty="0"/>
              <a:t> </a:t>
            </a:r>
            <a:r>
              <a:rPr lang="en-US" altLang="zh-CN" sz="1334" dirty="0"/>
              <a:t>produce</a:t>
            </a:r>
            <a:r>
              <a:rPr lang="zh-CN" altLang="en-US" sz="1334" dirty="0"/>
              <a:t> </a:t>
            </a:r>
            <a:r>
              <a:rPr lang="en-US" altLang="zh-CN" sz="1334" dirty="0"/>
              <a:t>regressed</a:t>
            </a:r>
            <a:r>
              <a:rPr lang="zh-CN" altLang="en-US" sz="1334" dirty="0"/>
              <a:t> </a:t>
            </a:r>
            <a:r>
              <a:rPr lang="en-US" altLang="zh-CN" sz="1334" dirty="0"/>
              <a:t>bounding</a:t>
            </a:r>
            <a:r>
              <a:rPr lang="zh-CN" altLang="en-US" sz="1334" dirty="0"/>
              <a:t> </a:t>
            </a:r>
            <a:r>
              <a:rPr lang="en-US" altLang="zh-CN" sz="1334" dirty="0"/>
              <a:t>box</a:t>
            </a:r>
            <a:r>
              <a:rPr lang="zh-CN" altLang="en-US" sz="1334" dirty="0"/>
              <a:t> </a:t>
            </a:r>
            <a:r>
              <a:rPr lang="en-US" altLang="zh-CN" sz="1334" dirty="0"/>
              <a:t>offset</a:t>
            </a:r>
            <a:r>
              <a:rPr lang="zh-CN" altLang="en-US" sz="1334" dirty="0"/>
              <a:t> </a:t>
            </a:r>
            <a:r>
              <a:rPr lang="en-US" altLang="zh-CN" sz="1334" dirty="0"/>
              <a:t>and</a:t>
            </a:r>
            <a:r>
              <a:rPr lang="zh-CN" altLang="en-US" sz="1334" dirty="0"/>
              <a:t> </a:t>
            </a:r>
            <a:r>
              <a:rPr lang="en-US" altLang="zh-CN" sz="1334" dirty="0"/>
              <a:t>confidence</a:t>
            </a:r>
            <a:r>
              <a:rPr lang="zh-CN" altLang="en-US" sz="1334" dirty="0"/>
              <a:t> </a:t>
            </a:r>
            <a:r>
              <a:rPr lang="en-US" altLang="zh-CN" sz="1334" dirty="0"/>
              <a:t>score</a:t>
            </a:r>
            <a:r>
              <a:rPr lang="zh-CN" altLang="en-US" sz="1334" dirty="0"/>
              <a:t> </a:t>
            </a:r>
            <a:r>
              <a:rPr lang="en-US" altLang="zh-CN" sz="1334" dirty="0"/>
              <a:t>of</a:t>
            </a:r>
            <a:r>
              <a:rPr lang="zh-CN" altLang="en-US" sz="1334" dirty="0"/>
              <a:t> </a:t>
            </a:r>
            <a:r>
              <a:rPr lang="en-US" altLang="zh-CN" sz="1334" dirty="0"/>
              <a:t>each</a:t>
            </a:r>
            <a:r>
              <a:rPr lang="zh-CN" altLang="en-US" sz="1334" dirty="0"/>
              <a:t> </a:t>
            </a:r>
            <a:r>
              <a:rPr lang="en-US" altLang="zh-CN" sz="1334" dirty="0"/>
              <a:t>class.</a:t>
            </a:r>
          </a:p>
          <a:p>
            <a:pPr marL="0" indent="0">
              <a:buNone/>
            </a:pPr>
            <a:endParaRPr lang="en-CA" altLang="zh-CN" sz="1867" dirty="0"/>
          </a:p>
        </p:txBody>
      </p:sp>
    </p:spTree>
    <p:extLst>
      <p:ext uri="{BB962C8B-B14F-4D97-AF65-F5344CB8AC3E}">
        <p14:creationId xmlns:p14="http://schemas.microsoft.com/office/powerpoint/2010/main" val="165657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D3127B-0F19-854A-B029-0108A0BA5534}"/>
              </a:ext>
            </a:extLst>
          </p:cNvPr>
          <p:cNvSpPr/>
          <p:nvPr/>
        </p:nvSpPr>
        <p:spPr>
          <a:xfrm>
            <a:off x="0" y="393103"/>
            <a:ext cx="12192000" cy="1374737"/>
          </a:xfrm>
          <a:prstGeom prst="rect">
            <a:avLst/>
          </a:prstGeom>
          <a:solidFill>
            <a:srgbClr val="AF0F21"/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AF0F2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686953D-07AF-9146-80BA-0598FEEF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Access GPU Cloud</a:t>
            </a:r>
            <a:endParaRPr lang="en-US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F3415-C08E-6C49-8A5F-67397F1C0035}"/>
              </a:ext>
            </a:extLst>
          </p:cNvPr>
          <p:cNvSpPr txBox="1"/>
          <p:nvPr/>
        </p:nvSpPr>
        <p:spPr>
          <a:xfrm>
            <a:off x="588723" y="60375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2792C-A5CD-1340-B415-50CF7CE31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88" y="2056310"/>
            <a:ext cx="10363200" cy="4672352"/>
          </a:xfrm>
        </p:spPr>
        <p:txBody>
          <a:bodyPr/>
          <a:lstStyle/>
          <a:p>
            <a:pPr marL="0" indent="0">
              <a:buNone/>
            </a:pPr>
            <a:r>
              <a:rPr lang="en-CA" altLang="zh-CN" sz="1867" dirty="0"/>
              <a:t>We have GPU cloud with 7 GPUs, you can access those GPU service by </a:t>
            </a:r>
            <a:r>
              <a:rPr lang="en-CA" altLang="zh-CN" sz="1867" dirty="0" err="1"/>
              <a:t>ssh</a:t>
            </a:r>
            <a:r>
              <a:rPr lang="en-CA" altLang="zh-CN" sz="1867" dirty="0"/>
              <a:t>, and transfer files with sftp: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zh-CN" sz="1600" i="1" dirty="0">
                <a:solidFill>
                  <a:schemeClr val="bg2">
                    <a:lumMod val="50000"/>
                  </a:schemeClr>
                </a:solidFill>
              </a:rPr>
              <a:t>Please schedule your task with other groups, there are only 7 GPU cards available.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altLang="zh-CN" sz="1600" i="1" dirty="0">
                <a:solidFill>
                  <a:schemeClr val="bg2">
                    <a:lumMod val="50000"/>
                  </a:schemeClr>
                </a:solidFill>
              </a:rPr>
              <a:t>You can only access those workstation with CSIL workstations.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Full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d</a:t>
            </a:r>
            <a:r>
              <a:rPr lang="en-CA" altLang="zh-CN" sz="1600" i="1" dirty="0">
                <a:solidFill>
                  <a:schemeClr val="bg2">
                    <a:lumMod val="50000"/>
                  </a:schemeClr>
                </a:solidFill>
              </a:rPr>
              <a:t>at</a:t>
            </a:r>
            <a:r>
              <a:rPr lang="en-US" altLang="zh-CN" sz="1600" i="1" dirty="0" err="1">
                <a:solidFill>
                  <a:schemeClr val="bg2">
                    <a:lumMod val="50000"/>
                  </a:schemeClr>
                </a:solidFill>
              </a:rPr>
              <a:t>aset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will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be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available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at</a:t>
            </a:r>
            <a:r>
              <a:rPr lang="zh-CN" altLang="en-US" sz="1600" i="1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</a:rPr>
              <a:t>/home/dataset</a:t>
            </a:r>
            <a:endParaRPr lang="en-CA" altLang="zh-CN" sz="1600" i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CA" altLang="zh-CN" sz="1600" b="1" i="1" dirty="0">
                <a:solidFill>
                  <a:schemeClr val="bg2">
                    <a:lumMod val="50000"/>
                  </a:schemeClr>
                </a:solidFill>
              </a:rPr>
              <a:t>Currently online:</a:t>
            </a:r>
          </a:p>
          <a:p>
            <a:r>
              <a:rPr lang="en-US" sz="1800" dirty="0"/>
              <a:t>gpu1 (Nvidia Titan XP, 12G): </a:t>
            </a:r>
            <a:r>
              <a:rPr lang="en-US" sz="1800" dirty="0" err="1"/>
              <a:t>ssh</a:t>
            </a:r>
            <a:r>
              <a:rPr lang="en-US" sz="1800" dirty="0"/>
              <a:t> -p 221 </a:t>
            </a:r>
            <a:r>
              <a:rPr lang="en-US" sz="1800" dirty="0">
                <a:hlinkClick r:id="rId3"/>
              </a:rPr>
              <a:t>userid@gpu.sfucloud.ca</a:t>
            </a:r>
            <a:r>
              <a:rPr lang="en-US" sz="1800" dirty="0"/>
              <a:t> </a:t>
            </a:r>
          </a:p>
          <a:p>
            <a:r>
              <a:rPr lang="en-US" sz="1800" dirty="0"/>
              <a:t>gpu2 (Nvidia Titan XP, 12G): </a:t>
            </a:r>
            <a:r>
              <a:rPr lang="en-US" sz="1800" dirty="0" err="1"/>
              <a:t>ssh</a:t>
            </a:r>
            <a:r>
              <a:rPr lang="en-US" sz="1800" dirty="0"/>
              <a:t> -p 222 </a:t>
            </a:r>
            <a:r>
              <a:rPr lang="en-US" sz="1800" dirty="0">
                <a:hlinkClick r:id="rId3"/>
              </a:rPr>
              <a:t>userid@gpu.sfucloud.ca</a:t>
            </a:r>
            <a:r>
              <a:rPr lang="en-US" sz="1800" dirty="0"/>
              <a:t> </a:t>
            </a:r>
          </a:p>
          <a:p>
            <a:r>
              <a:rPr lang="en-US" sz="1800" dirty="0"/>
              <a:t>gpu3 (Nvidia Titan XP, 12G): </a:t>
            </a:r>
            <a:r>
              <a:rPr lang="en-US" sz="1800" dirty="0" err="1"/>
              <a:t>ssh</a:t>
            </a:r>
            <a:r>
              <a:rPr lang="en-US" sz="1800" dirty="0"/>
              <a:t> -p 223 </a:t>
            </a:r>
            <a:r>
              <a:rPr lang="en-US" sz="1800" dirty="0">
                <a:hlinkClick r:id="rId3"/>
              </a:rPr>
              <a:t>userid@gpu.sfucloud.ca</a:t>
            </a:r>
            <a:r>
              <a:rPr lang="en-US" sz="1800" dirty="0"/>
              <a:t> </a:t>
            </a:r>
          </a:p>
          <a:p>
            <a:r>
              <a:rPr lang="en-US" sz="1800" dirty="0"/>
              <a:t>gpu4 (Nvidia Titan XP, 12G): </a:t>
            </a:r>
            <a:r>
              <a:rPr lang="en-US" sz="1800" dirty="0" err="1"/>
              <a:t>ssh</a:t>
            </a:r>
            <a:r>
              <a:rPr lang="en-US" sz="1800" dirty="0"/>
              <a:t> -p 224 </a:t>
            </a:r>
            <a:r>
              <a:rPr lang="en-US" sz="1800" dirty="0">
                <a:hlinkClick r:id="rId3"/>
              </a:rPr>
              <a:t>userid@gpu.sfucloud.ca</a:t>
            </a: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chemeClr val="bg2">
                    <a:lumMod val="50000"/>
                  </a:schemeClr>
                </a:solidFill>
              </a:rPr>
              <a:t>Currently is under maintaining: 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gpu5 (Nvidia GTX1080TI, 11G): 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</a:rPr>
              <a:t>ssh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-p 225 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userid@gpucloud.cs.sfu.ca</a:t>
            </a:r>
            <a:endParaRPr lang="en-US" sz="18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gpu6 (Nvidia GTX1080TI, 11G): : 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</a:rPr>
              <a:t>ssh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-p 222 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userid@gpucloud.cs.sfu.ca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 </a:t>
            </a:r>
          </a:p>
          <a:p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gpu7 (Nvidia GTX1080TI, 11G): 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</a:rPr>
              <a:t>ssh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</a:rPr>
              <a:t> -p 223 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hlinkClick r:id="rId3"/>
              </a:rPr>
              <a:t>userid@gpucloud.cs.sfu.ca</a:t>
            </a:r>
            <a:br>
              <a:rPr lang="en-US" sz="2000" dirty="0">
                <a:solidFill>
                  <a:schemeClr val="bg2">
                    <a:lumMod val="50000"/>
                  </a:schemeClr>
                </a:solidFill>
              </a:rPr>
            </a:br>
            <a:endParaRPr lang="en-CA" altLang="zh-CN" sz="1867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482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E725-8E30-A34D-977B-31732BE0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BC65-0439-1549-92BD-262B897076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17AC4-1271-B14E-8333-6070AFCF95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21173"/>
      </p:ext>
    </p:extLst>
  </p:cSld>
  <p:clrMapOvr>
    <a:masterClrMapping/>
  </p:clrMapOvr>
</p:sld>
</file>

<file path=ppt/theme/theme1.xml><?xml version="1.0" encoding="utf-8"?>
<a:theme xmlns:a="http://schemas.openxmlformats.org/drawingml/2006/main" name="SFU - WHITE Opening + Closing">
  <a:themeElements>
    <a:clrScheme name="SFU Colour Theme">
      <a:dk1>
        <a:srgbClr val="000000"/>
      </a:dk1>
      <a:lt1>
        <a:srgbClr val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none" anchor="t" anchorCtr="0">
        <a:spAutoFit/>
      </a:bodyPr>
      <a:lstStyle>
        <a:defPPr algn="l">
          <a:defRPr dirty="0" smtClean="0">
            <a:solidFill>
              <a:srgbClr val="AF0F2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C13019B0-D065-C548-B2E3-24F06C2B6F69}"/>
    </a:ext>
  </a:extLst>
</a:theme>
</file>

<file path=ppt/theme/theme2.xml><?xml version="1.0" encoding="utf-8"?>
<a:theme xmlns:a="http://schemas.openxmlformats.org/drawingml/2006/main" name="SFU - White w/ Background Theme">
  <a:themeElements>
    <a:clrScheme name="SFU Colour Palette">
      <a:dk1>
        <a:sysClr val="windowText" lastClr="000000"/>
      </a:dk1>
      <a:lt1>
        <a:sysClr val="window" lastClr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8DA35012-0201-CD4F-82C2-7F131411EE52}"/>
    </a:ext>
  </a:extLst>
</a:theme>
</file>

<file path=ppt/theme/theme3.xml><?xml version="1.0" encoding="utf-8"?>
<a:theme xmlns:a="http://schemas.openxmlformats.org/drawingml/2006/main" name="SFU - White w/o Background Theme">
  <a:themeElements>
    <a:clrScheme name="SFU Colour Palette">
      <a:dk1>
        <a:sysClr val="windowText" lastClr="000000"/>
      </a:dk1>
      <a:lt1>
        <a:sysClr val="window" lastClr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8DA35012-0201-CD4F-82C2-7F131411EE52}"/>
    </a:ext>
  </a:extLst>
</a:theme>
</file>

<file path=ppt/theme/theme4.xml><?xml version="1.0" encoding="utf-8"?>
<a:theme xmlns:a="http://schemas.openxmlformats.org/drawingml/2006/main" name="SFU - RED Opening + Closing">
  <a:themeElements>
    <a:clrScheme name="SFU Colour Theme">
      <a:dk1>
        <a:srgbClr val="000000"/>
      </a:dk1>
      <a:lt1>
        <a:srgbClr val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none" anchor="t" anchorCtr="0">
        <a:spAutoFit/>
      </a:bodyPr>
      <a:lstStyle>
        <a:defPPr algn="l">
          <a:defRPr dirty="0" smtClean="0">
            <a:solidFill>
              <a:srgbClr val="AF0F2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C13019B0-D065-C548-B2E3-24F06C2B6F69}"/>
    </a:ext>
  </a:extLst>
</a:theme>
</file>

<file path=ppt/theme/theme5.xml><?xml version="1.0" encoding="utf-8"?>
<a:theme xmlns:a="http://schemas.openxmlformats.org/drawingml/2006/main" name="SFU - RED w/ Background Theme">
  <a:themeElements>
    <a:clrScheme name="SFU Colour Palette">
      <a:dk1>
        <a:sysClr val="windowText" lastClr="000000"/>
      </a:dk1>
      <a:lt1>
        <a:sysClr val="window" lastClr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8DA35012-0201-CD4F-82C2-7F131411EE52}"/>
    </a:ext>
  </a:extLst>
</a:theme>
</file>

<file path=ppt/theme/theme6.xml><?xml version="1.0" encoding="utf-8"?>
<a:theme xmlns:a="http://schemas.openxmlformats.org/drawingml/2006/main" name="SFU - RED w/o Background Theme">
  <a:themeElements>
    <a:clrScheme name="SFU Colour Palette">
      <a:dk1>
        <a:sysClr val="windowText" lastClr="000000"/>
      </a:dk1>
      <a:lt1>
        <a:sysClr val="window" lastClr="FFFFFF"/>
      </a:lt1>
      <a:dk2>
        <a:srgbClr val="8C0E1C"/>
      </a:dk2>
      <a:lt2>
        <a:srgbClr val="F4F4F4"/>
      </a:lt2>
      <a:accent1>
        <a:srgbClr val="8A0E1C"/>
      </a:accent1>
      <a:accent2>
        <a:srgbClr val="997213"/>
      </a:accent2>
      <a:accent3>
        <a:srgbClr val="0B5C84"/>
      </a:accent3>
      <a:accent4>
        <a:srgbClr val="000000"/>
      </a:accent4>
      <a:accent5>
        <a:srgbClr val="414548"/>
      </a:accent5>
      <a:accent6>
        <a:srgbClr val="063E89"/>
      </a:accent6>
      <a:hlink>
        <a:srgbClr val="B17D18"/>
      </a:hlink>
      <a:folHlink>
        <a:srgbClr val="865F1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FU-Powerpoint-Template" id="{727E394B-4823-3F42-9E9E-498D176928DA}" vid="{8DA35012-0201-CD4F-82C2-7F131411EE52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931</Words>
  <Application>Microsoft Macintosh PowerPoint</Application>
  <PresentationFormat>Widescreen</PresentationFormat>
  <Paragraphs>130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7" baseType="lpstr">
      <vt:lpstr>等线</vt:lpstr>
      <vt:lpstr>宋体</vt:lpstr>
      <vt:lpstr>Arial</vt:lpstr>
      <vt:lpstr>Calibri</vt:lpstr>
      <vt:lpstr>Courier</vt:lpstr>
      <vt:lpstr>DIN Alternate</vt:lpstr>
      <vt:lpstr>DIN Alternate Bold</vt:lpstr>
      <vt:lpstr>Helvetica</vt:lpstr>
      <vt:lpstr>SFU - WHITE Opening + Closing</vt:lpstr>
      <vt:lpstr>SFU - White w/ Background Theme</vt:lpstr>
      <vt:lpstr>SFU - White w/o Background Theme</vt:lpstr>
      <vt:lpstr>SFU - RED Opening + Closing</vt:lpstr>
      <vt:lpstr>SFU - RED w/ Background Theme</vt:lpstr>
      <vt:lpstr>SFU - RED w/o Background Theme</vt:lpstr>
      <vt:lpstr>Lab Session 3 Vehicle Detection</vt:lpstr>
      <vt:lpstr>Lab Session 3: Overview</vt:lpstr>
      <vt:lpstr>Cityscapes dataset overview</vt:lpstr>
      <vt:lpstr>Prepare cityscapes dataset </vt:lpstr>
      <vt:lpstr>Run forward of SSD</vt:lpstr>
      <vt:lpstr>Run forward of SSD</vt:lpstr>
      <vt:lpstr>Run forward step by step</vt:lpstr>
      <vt:lpstr>Training</vt:lpstr>
      <vt:lpstr>Training</vt:lpstr>
      <vt:lpstr>Testing</vt:lpstr>
      <vt:lpstr>Summary: Skeleton Code Structure</vt:lpstr>
      <vt:lpstr>Access GPU Cloud</vt:lpstr>
      <vt:lpstr>PowerPoint Presentation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Luwei Yang</cp:lastModifiedBy>
  <cp:revision>56</cp:revision>
  <dcterms:created xsi:type="dcterms:W3CDTF">2018-03-21T22:33:25Z</dcterms:created>
  <dcterms:modified xsi:type="dcterms:W3CDTF">2018-10-01T20:41:38Z</dcterms:modified>
</cp:coreProperties>
</file>